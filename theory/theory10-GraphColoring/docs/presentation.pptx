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平均搜索节点数（实测）</c:v>
                </c:pt>
              </c:strCache>
            </c:strRef>
          </c:tx>
          <c:spPr>
            <a:ln w="31750">
              <a:solidFill>
                <a:srgbClr val="2E6FDE"/>
              </a:solidFill>
            </a:ln>
          </c:spPr>
          <c:marker>
            <c:symbol val="circle"/>
            <c:size val="7"/>
            <c:spPr>
              <a:solidFill>
                <a:srgbClr val="2E6FDE"/>
              </a:solidFill>
              <a:ln>
                <a:solidFill>
                  <a:srgbClr val="2E6FDE"/>
                </a:solidFill>
              </a:ln>
            </c:spPr>
          </c:marker>
          <c:dLbls>
            <c:numFmt formatCode="#,##0" sourceLinked="0"/>
            <c:txPr>
              <a:bodyPr/>
              <a:lstStyle/>
              <a:p>
                <a:pPr>
                  <a:defRPr sz="1000">
                    <a:solidFill>
                      <a:srgbClr val="2E6FDE"/>
                    </a:solidFill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Sheet1!$A$2:$A$11</c:f>
              <c:strCache>
                <c:ptCount val="10"/>
                <c:pt idx="0">
                  <c:v>10</c:v>
                </c:pt>
                <c:pt idx="1">
                  <c:v>12</c:v>
                </c:pt>
                <c:pt idx="2">
                  <c:v>14</c:v>
                </c:pt>
                <c:pt idx="3">
                  <c:v>16</c:v>
                </c:pt>
                <c:pt idx="4">
                  <c:v>18</c:v>
                </c:pt>
                <c:pt idx="5">
                  <c:v>20</c:v>
                </c:pt>
                <c:pt idx="6">
                  <c:v>22</c:v>
                </c:pt>
                <c:pt idx="7">
                  <c:v>24</c:v>
                </c:pt>
                <c:pt idx="8">
                  <c:v>26</c:v>
                </c:pt>
                <c:pt idx="9">
                  <c:v>28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141.6</c:v>
                </c:pt>
                <c:pt idx="1">
                  <c:v>377.2</c:v>
                </c:pt>
                <c:pt idx="2">
                  <c:v>727.1</c:v>
                </c:pt>
                <c:pt idx="3">
                  <c:v>1202.5</c:v>
                </c:pt>
                <c:pt idx="4">
                  <c:v>5285.2</c:v>
                </c:pt>
                <c:pt idx="5">
                  <c:v>8815.0</c:v>
                </c:pt>
                <c:pt idx="6">
                  <c:v>14180.5</c:v>
                </c:pt>
                <c:pt idx="7">
                  <c:v>27917.5</c:v>
                </c:pt>
                <c:pt idx="8">
                  <c:v>49883.6</c:v>
                </c:pt>
                <c:pt idx="9">
                  <c:v>96125.4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拟合 ≈ 4.8 × 1.43^n</c:v>
                </c:pt>
              </c:strCache>
            </c:strRef>
          </c:tx>
          <c:spPr>
            <a:ln w="31750">
              <a:solidFill>
                <a:srgbClr val="9AA5BD"/>
              </a:solidFill>
              <a:prstDash val="dash"/>
            </a:ln>
          </c:spPr>
          <c:marker>
            <c:symbol val="circle"/>
            <c:size val="7"/>
            <c:spPr>
              <a:solidFill>
                <a:srgbClr val="9AA5BD"/>
              </a:solidFill>
              <a:ln>
                <a:solidFill>
                  <a:srgbClr val="9AA5BD"/>
                </a:solidFill>
              </a:ln>
            </c:spPr>
          </c:marker>
          <c:cat>
            <c:strRef>
              <c:f>Sheet1!$A$2:$A$11</c:f>
              <c:strCache>
                <c:ptCount val="10"/>
                <c:pt idx="0">
                  <c:v>10</c:v>
                </c:pt>
                <c:pt idx="1">
                  <c:v>12</c:v>
                </c:pt>
                <c:pt idx="2">
                  <c:v>14</c:v>
                </c:pt>
                <c:pt idx="3">
                  <c:v>16</c:v>
                </c:pt>
                <c:pt idx="4">
                  <c:v>18</c:v>
                </c:pt>
                <c:pt idx="5">
                  <c:v>20</c:v>
                </c:pt>
                <c:pt idx="6">
                  <c:v>22</c:v>
                </c:pt>
                <c:pt idx="7">
                  <c:v>24</c:v>
                </c:pt>
                <c:pt idx="8">
                  <c:v>26</c:v>
                </c:pt>
                <c:pt idx="9">
                  <c:v>28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178.5</c:v>
                </c:pt>
                <c:pt idx="1">
                  <c:v>367.3</c:v>
                </c:pt>
                <c:pt idx="2">
                  <c:v>755.7</c:v>
                </c:pt>
                <c:pt idx="3">
                  <c:v>1554.7</c:v>
                </c:pt>
                <c:pt idx="4">
                  <c:v>3198.5</c:v>
                </c:pt>
                <c:pt idx="5">
                  <c:v>6580.3</c:v>
                </c:pt>
                <c:pt idx="6">
                  <c:v>13537.6</c:v>
                </c:pt>
                <c:pt idx="7">
                  <c:v>27850.9</c:v>
                </c:pt>
                <c:pt idx="8">
                  <c:v>57297.7</c:v>
                </c:pt>
                <c:pt idx="9">
                  <c:v>117878.5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200"/>
                  <a:t>顶点数 n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B8C0D0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logBase val="10"/>
        </c:scaling>
        <c:delete val="0"/>
        <c:axPos val="l"/>
        <c:majorGridlines>
          <c:spPr>
            <a:ln>
              <a:solidFill>
                <a:srgbClr val="E1E5EE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/>
                  <a:t>节点数（对数坐标）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spPr>
          <a:ln>
            <a:solidFill>
              <a:srgbClr val="B8C0D0"/>
            </a:solidFill>
          </a:ln>
        </c:sp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200">
          <a:latin typeface="Microsoft YaHe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理论最坏 3ⁿ</c:v>
                </c:pt>
              </c:strCache>
            </c:strRef>
          </c:tx>
          <c:spPr>
            <a:ln w="31750">
              <a:solidFill>
                <a:srgbClr val="D64545"/>
              </a:solidFill>
            </a:ln>
          </c:spPr>
          <c:marker>
            <c:symbol val="circle"/>
            <c:size val="7"/>
            <c:spPr>
              <a:solidFill>
                <a:srgbClr val="D64545"/>
              </a:solidFill>
              <a:ln>
                <a:solidFill>
                  <a:srgbClr val="D64545"/>
                </a:solidFill>
              </a:ln>
            </c:spPr>
          </c:marker>
          <c:cat>
            <c:strRef>
              <c:f>Sheet1!$A$2:$A$11</c:f>
              <c:strCache>
                <c:ptCount val="10"/>
                <c:pt idx="0">
                  <c:v>10</c:v>
                </c:pt>
                <c:pt idx="1">
                  <c:v>12</c:v>
                </c:pt>
                <c:pt idx="2">
                  <c:v>14</c:v>
                </c:pt>
                <c:pt idx="3">
                  <c:v>16</c:v>
                </c:pt>
                <c:pt idx="4">
                  <c:v>18</c:v>
                </c:pt>
                <c:pt idx="5">
                  <c:v>20</c:v>
                </c:pt>
                <c:pt idx="6">
                  <c:v>22</c:v>
                </c:pt>
                <c:pt idx="7">
                  <c:v>24</c:v>
                </c:pt>
                <c:pt idx="8">
                  <c:v>26</c:v>
                </c:pt>
                <c:pt idx="9">
                  <c:v>28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59049</c:v>
                </c:pt>
                <c:pt idx="1">
                  <c:v>531441</c:v>
                </c:pt>
                <c:pt idx="2">
                  <c:v>4782969</c:v>
                </c:pt>
                <c:pt idx="3">
                  <c:v>43046721</c:v>
                </c:pt>
                <c:pt idx="4">
                  <c:v>387420489</c:v>
                </c:pt>
                <c:pt idx="5">
                  <c:v>3486784401</c:v>
                </c:pt>
                <c:pt idx="6">
                  <c:v>31381059609</c:v>
                </c:pt>
                <c:pt idx="7">
                  <c:v>282429536481</c:v>
                </c:pt>
                <c:pt idx="8">
                  <c:v>2541865828329</c:v>
                </c:pt>
                <c:pt idx="9">
                  <c:v>22876792454961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实测平均节点数</c:v>
                </c:pt>
              </c:strCache>
            </c:strRef>
          </c:tx>
          <c:spPr>
            <a:ln w="31750">
              <a:solidFill>
                <a:srgbClr val="2E6FDE"/>
              </a:solidFill>
            </a:ln>
          </c:spPr>
          <c:marker>
            <c:symbol val="circle"/>
            <c:size val="7"/>
            <c:spPr>
              <a:solidFill>
                <a:srgbClr val="2E6FDE"/>
              </a:solidFill>
              <a:ln>
                <a:solidFill>
                  <a:srgbClr val="2E6FDE"/>
                </a:solidFill>
              </a:ln>
            </c:spPr>
          </c:marker>
          <c:cat>
            <c:strRef>
              <c:f>Sheet1!$A$2:$A$11</c:f>
              <c:strCache>
                <c:ptCount val="10"/>
                <c:pt idx="0">
                  <c:v>10</c:v>
                </c:pt>
                <c:pt idx="1">
                  <c:v>12</c:v>
                </c:pt>
                <c:pt idx="2">
                  <c:v>14</c:v>
                </c:pt>
                <c:pt idx="3">
                  <c:v>16</c:v>
                </c:pt>
                <c:pt idx="4">
                  <c:v>18</c:v>
                </c:pt>
                <c:pt idx="5">
                  <c:v>20</c:v>
                </c:pt>
                <c:pt idx="6">
                  <c:v>22</c:v>
                </c:pt>
                <c:pt idx="7">
                  <c:v>24</c:v>
                </c:pt>
                <c:pt idx="8">
                  <c:v>26</c:v>
                </c:pt>
                <c:pt idx="9">
                  <c:v>28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141.6</c:v>
                </c:pt>
                <c:pt idx="1">
                  <c:v>377.2</c:v>
                </c:pt>
                <c:pt idx="2">
                  <c:v>727.1</c:v>
                </c:pt>
                <c:pt idx="3">
                  <c:v>1202.5</c:v>
                </c:pt>
                <c:pt idx="4">
                  <c:v>5285.2</c:v>
                </c:pt>
                <c:pt idx="5">
                  <c:v>8815.0</c:v>
                </c:pt>
                <c:pt idx="6">
                  <c:v>14180.5</c:v>
                </c:pt>
                <c:pt idx="7">
                  <c:v>27917.5</c:v>
                </c:pt>
                <c:pt idx="8">
                  <c:v>49883.6</c:v>
                </c:pt>
                <c:pt idx="9">
                  <c:v>96125.4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200"/>
                  <a:t>顶点数 n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B8C0D0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logBase val="10"/>
        </c:scaling>
        <c:delete val="0"/>
        <c:axPos val="l"/>
        <c:majorGridlines>
          <c:spPr>
            <a:ln>
              <a:solidFill>
                <a:srgbClr val="E1E5EE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/>
                  <a:t>节点数（对数坐标）</a:t>
                </a:r>
              </a:p>
            </c:rich>
          </c:tx>
          <c:layout/>
          <c:overlay val="0"/>
        </c:title>
        <c:numFmt formatCode="0E+00" sourceLinked="0"/>
        <c:majorTickMark val="out"/>
        <c:minorTickMark val="none"/>
        <c:tickLblPos val="nextTo"/>
        <c:spPr>
          <a:ln>
            <a:solidFill>
              <a:srgbClr val="B8C0D0"/>
            </a:solidFill>
          </a:ln>
        </c:sp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200">
          <a:latin typeface="Microsoft YaHe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平均节点数</c:v>
                </c:pt>
              </c:strCache>
            </c:strRef>
          </c:tx>
          <c:spPr>
            <a:ln w="31750">
              <a:solidFill>
                <a:srgbClr val="2E6FDE"/>
              </a:solidFill>
            </a:ln>
          </c:spPr>
          <c:marker>
            <c:symbol val="circle"/>
            <c:size val="7"/>
            <c:spPr>
              <a:solidFill>
                <a:srgbClr val="2E6FDE"/>
              </a:solidFill>
              <a:ln>
                <a:solidFill>
                  <a:srgbClr val="2E6FDE"/>
                </a:solidFill>
              </a:ln>
            </c:spPr>
          </c:marker>
          <c:cat>
            <c:strRef>
              <c:f>Sheet1!$A$2:$A$12</c:f>
              <c:strCache>
                <c:ptCount val="11"/>
                <c:pt idx="0">
                  <c:v>2</c:v>
                </c:pt>
                <c:pt idx="1">
                  <c:v>3</c:v>
                </c:pt>
                <c:pt idx="2">
                  <c:v>3.5</c:v>
                </c:pt>
                <c:pt idx="3">
                  <c:v>4</c:v>
                </c:pt>
                <c:pt idx="4">
                  <c:v>4.5</c:v>
                </c:pt>
                <c:pt idx="5">
                  <c:v>4.7</c:v>
                </c:pt>
                <c:pt idx="6">
                  <c:v>5</c:v>
                </c:pt>
                <c:pt idx="7">
                  <c:v>5.5</c:v>
                </c:pt>
                <c:pt idx="8">
                  <c:v>6</c:v>
                </c:pt>
                <c:pt idx="9">
                  <c:v>7</c:v>
                </c:pt>
                <c:pt idx="10">
                  <c:v>8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62933</c:v>
                </c:pt>
                <c:pt idx="1">
                  <c:v>350676</c:v>
                </c:pt>
                <c:pt idx="2">
                  <c:v>377192</c:v>
                </c:pt>
                <c:pt idx="3">
                  <c:v>498552</c:v>
                </c:pt>
                <c:pt idx="4">
                  <c:v>284712</c:v>
                </c:pt>
                <c:pt idx="5">
                  <c:v>235256</c:v>
                </c:pt>
                <c:pt idx="6">
                  <c:v>107322</c:v>
                </c:pt>
                <c:pt idx="7">
                  <c:v>48850</c:v>
                </c:pt>
                <c:pt idx="8">
                  <c:v>25948</c:v>
                </c:pt>
                <c:pt idx="9">
                  <c:v>8737</c:v>
                </c:pt>
                <c:pt idx="10">
                  <c:v>3357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中位节点数</c:v>
                </c:pt>
              </c:strCache>
            </c:strRef>
          </c:tx>
          <c:spPr>
            <a:ln w="31750">
              <a:solidFill>
                <a:srgbClr val="E4572E"/>
              </a:solidFill>
            </a:ln>
          </c:spPr>
          <c:marker>
            <c:symbol val="circle"/>
            <c:size val="7"/>
            <c:spPr>
              <a:solidFill>
                <a:srgbClr val="E4572E"/>
              </a:solidFill>
              <a:ln>
                <a:solidFill>
                  <a:srgbClr val="E4572E"/>
                </a:solidFill>
              </a:ln>
            </c:spPr>
          </c:marker>
          <c:cat>
            <c:strRef>
              <c:f>Sheet1!$A$2:$A$12</c:f>
              <c:strCache>
                <c:ptCount val="11"/>
                <c:pt idx="0">
                  <c:v>2</c:v>
                </c:pt>
                <c:pt idx="1">
                  <c:v>3</c:v>
                </c:pt>
                <c:pt idx="2">
                  <c:v>3.5</c:v>
                </c:pt>
                <c:pt idx="3">
                  <c:v>4</c:v>
                </c:pt>
                <c:pt idx="4">
                  <c:v>4.5</c:v>
                </c:pt>
                <c:pt idx="5">
                  <c:v>4.7</c:v>
                </c:pt>
                <c:pt idx="6">
                  <c:v>5</c:v>
                </c:pt>
                <c:pt idx="7">
                  <c:v>5.5</c:v>
                </c:pt>
                <c:pt idx="8">
                  <c:v>6</c:v>
                </c:pt>
                <c:pt idx="9">
                  <c:v>7</c:v>
                </c:pt>
                <c:pt idx="10">
                  <c:v>8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31</c:v>
                </c:pt>
                <c:pt idx="1">
                  <c:v>582</c:v>
                </c:pt>
                <c:pt idx="2">
                  <c:v>30306</c:v>
                </c:pt>
                <c:pt idx="3">
                  <c:v>33835</c:v>
                </c:pt>
                <c:pt idx="4">
                  <c:v>116157</c:v>
                </c:pt>
                <c:pt idx="5">
                  <c:v>92772</c:v>
                </c:pt>
                <c:pt idx="6">
                  <c:v>73174</c:v>
                </c:pt>
                <c:pt idx="7">
                  <c:v>29707</c:v>
                </c:pt>
                <c:pt idx="8">
                  <c:v>15396</c:v>
                </c:pt>
                <c:pt idx="9">
                  <c:v>3922</c:v>
                </c:pt>
                <c:pt idx="10">
                  <c:v>1995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200"/>
                  <a:t>平均度数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B8C0D0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logBase val="10"/>
        </c:scaling>
        <c:delete val="0"/>
        <c:axPos val="l"/>
        <c:majorGridlines>
          <c:spPr>
            <a:ln>
              <a:solidFill>
                <a:srgbClr val="E1E5EE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/>
                  <a:t>搜索节点数（对数坐标）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spPr>
          <a:ln>
            <a:solidFill>
              <a:srgbClr val="B8C0D0"/>
            </a:solidFill>
          </a:ln>
        </c:sp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200">
          <a:latin typeface="Microsoft YaHe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大家好。我们的项目是图的三染色判定。四色定理折腾了人类一百多年，但我们先问一个更小的问题：三种颜色够不够？这个问题没法靠定理回答，它是 NP 完全问题。接下来十几分钟，我们会用二染色做对照，亲手实现朴素回溯，并用实验数据看看“难”到底是什么样子。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1852 年一个画地图的学生发现四种颜色似乎总够用。我们的第一步是抽象：把每个区域缩成一个点，相邻关系连成一条边，形状和面积全部扔掉。右边这张图里有三角形 A-B-D，所以至少要三种颜色。这种“把问题翻译成已知问题”的思维，是计算机科学最重要的方式之一。下面三个例子：编译器寄存器分配、教务排考试、无线电频点分配，核心都是同一个图染色问题。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二染色就是判断二分图，有线性时间算法。三染色是 Karp 1972 年 21 个 NP 完全问题之一，而且 Garey、Johnson、Stockmeyer 1976 年证明，即使限制在平面图上也仍然是 NP 完全。再看四色：四色定理保证平面图四染色永远有解，还有 O(n²) 算法。所以我们选三色——四色是“永远有解”的定理问题，三色才是搜索问题的真正战场。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看二染色。起点定一种颜色之后，它的邻居必须是另一种，邻居的邻居又必须回到第一种，所以整个连通分量的颜色被唯一决定——没有选择，也就不需要回溯。每个顶点最多入队一次，每条边从两端各检查一次，总共 O(n+m)。不连通图要对每个未染色的顶点重新作起点，孤立点直接染 0。奇环为什么矛盾：沿环走一圈颜色逐边交替，奇数条边之后回到起点颜色却相反。网格图一定是二分图：颜色取行号加列号的奇偶。记住这个线性的感觉，下一页你会失去它。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三染色就没有“唯一决定”这回事了：每个顶点有三种颜色可以试。我们的朴素回溯规则完全钉死：顶点按 0 到 n-1 的固定顺序，每个顶点依次试 0、1、2，只和已经染色的邻居判冲突，不往前看。冲突就换色，三色都不行就退回上一个顶点。NODES 统计进入 dfs 的次数，dfs(0) 和 v 等于 n 的成功调用都算。撤销分支时必须把 coloring[v] 恢复成未染色，这是回溯最经典的 bug：残留的颜色会污染后面所有分支。统计量 nodes 不回滚。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这是三角形的回溯树。dfs(0) 给顶点 0 染 0；dfs(1) 先试 0，和顶点 0 同色，冲突；再试 1，可以；dfs(2) 先试 0，和顶点 0 冲突，试 1，和顶点 1 冲突，试 2 成功；最后 dfs(3) 发现 v 等于 n，成功返回。一共 4 个节点，没有回溯。有解的证据就是这个染色方案本身，用 Q1 的方法 O(n+m) 就能验证。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再看 K4，四个顶点两两相邻，至少需要四种颜色，所以无解。这是 v0 等于 0 的那棵子树：dfs(1) 试 1，进入 dfs(2) 试 2，dfs(3) 三种颜色全部冲突，是死路，回溯；再试 v1 等于 2，同样走到死路。这棵子树有 5 个节点，v0 等于 1 和 v0 等于 2 的子树各 5 个，加上根，共 16 个。我们的算法没有利用对称性，所以每棵子树都要搜完。这说明：有解只要给一个方案，无解却必须覆盖或者正确排除所有分支，提前 return 无解是错误的。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现场演示。先跑 solve：三角形 4 个节点，K4 16 个节点；网格是二分图，二染色直接成功。再看 data 下六个经典实例：Petersen 图三染色只要 11 个节点，几乎不回溯，而 Grötzsch 图有 11 个顶点却要搜 472 个节点才能确认无解。最后跑 bench，让大家看着节点数一路往上涨。（现场依次运行下面三条命令。）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这是我们的第一次对照实验。随机图平均度数 4.7，n 从 10 到 28，每个规模 20 个实例取平均。纵轴是对数坐标，实测点基本落在一条直线上，说明节点数大致是 c 的 n 次方；最小二乘拟合 c 约 1.43，n 从 20 到 28 的逐步增长率约 1.35，也就是每增加两个顶点节点数大约翻一番。注意这只是 n 不超过 28 的实验趋势，不是证明。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理论上搜索树最坏有 3 的 n 次方个节点，n 等于 28 时是 2.3 乘 10 的 13 次方，而我们实测只有大约 10 的 5 次方，是最坏情形的 4 乘 10 的负 9 次方。免费剪掉分支的是冲突检查：当前顶点一旦和已染色邻居冲突，我们立刻放弃以它为根的整棵子树，而不是染完所有顶点再检查。边越多，剪枝越早。但要注意，剪掉的只是底数——从 3 降到约 1.43，增长仍然是指数的。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固定 n 等于 30，把平均度数从 2 扫到 8。难度不是单调的：最难的区域在平均度数 4 到 5 附近，恰好是可染色和不可染色的分界。太稀疏，多数实例一路贪心就能染完；太稠密，很快遇到冲突被剪掉。另外稀疏端的均值远大于中位数，是个别重尾实例拉高的，所以要同时看均值和中位数。这就是进阶部分相变实验的入口，我们这里只如实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 Mycielski 构造作用在五元环上得到的 Grötzsch 图：11 个顶点、20 条边，一个三角形都没有，色数却是 4。朴素回溯要搜 472 个节点才能确认无解，而 K4 只要 16 个。它的无解没有“一眼就能看出”的局部原因。回到 NP 完全的含义：有解很容易给证据——一个染色方案，O(n+m) 验证；而对无解的实例，我们没有已知的通用办法给出比穷尽搜索更短的证据。这正是“验证容易、求解难”的直观体现。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怎么知道实现是对的？OJ 版本是单文件，只补全 three_color 函数，输入输出已由框架提供。本地验收 20 项：19 类测试点加题面样例的全文精确比较，包括 n 等于 500 的偶环、1600 条边的完全二分图，以及一个 n 等于 28、需要 22 万多个节点才能确认无解的随机图，耗时约 0.2 秒。验证方法是用独立的显式栈实现来交叉验证 SAT/UNSAT、颜色方案和 NODES。我们还写了 C++ 副本，与 Python 版逐点对照，共 68 项一致。（如已在 ACMOJ 获得 Accepted，可在此处补充截图。）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回答终极问题。回溯为什么可能很慢：最坏情形每个顶点三个选择，指数规模；固定顺序看不到后面的约束，灾难可能被留到最后，一次失败要退很远；无解必须穷尽所有分支；而且难度强烈依赖实例结构。启发式能买到什么：MRV 只改变选择顺序，前向检查只是提前发现死路，它们都保留全部合法分支，所以是精确且完备的，答案不变；但它们减少的是常数底数，并没有改变 NP 完全的最坏情形结论。这是我们下一步 Advance 想做的方向，Basic 阶段我们没有实现。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总结一下：Q1，验证染色合法只需逐边检查，O(n+m)；Q2，二染色没有选择，沿边传播即可，奇环必然矛盾；Q3，三染色回溯搜索的是部分染色方案，冲突或三色都不行就退回，并且要撤销 coloring[v]。核心观点：有解易验证，无解要穷尽；NP 完全不等于每个实例都难。谢谢大家，欢迎提问。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chart" Target="../charts/char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737360"/>
            <a:ext cx="7498079" cy="1188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Microsoft YaHei"/>
                <a:ea typeface="Microsoft YaHei"/>
              </a:rPr>
              <a:t>回溯搜索与图的三染色判定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498079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0">
                <a:solidFill>
                  <a:srgbClr val="8EC5FF"/>
                </a:solidFill>
                <a:latin typeface="Microsoft YaHei"/>
                <a:ea typeface="Microsoft YaHei"/>
              </a:rPr>
              <a:t>一次 NP 完全问题的亲身体验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7498079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E8"/>
                </a:solidFill>
                <a:latin typeface="Microsoft YaHei"/>
                <a:ea typeface="Microsoft YaHei"/>
              </a:rPr>
              <a:t>《计算机科学中的伟大思想》理论项目 · Basic 课堂展示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AAB4CC"/>
                </a:solidFill>
                <a:latin typeface="Microsoft YaHei"/>
                <a:ea typeface="Microsoft YaHei"/>
              </a:rPr>
              <a:t>二染色 · 朴素回溯三染色 · 指数爆炸实验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966960" y="1828799"/>
            <a:ext cx="1347951" cy="979345"/>
          </a:xfrm>
          <a:prstGeom prst="line">
            <a:avLst/>
          </a:prstGeom>
          <a:ln w="28575">
            <a:solidFill>
              <a:srgbClr val="8A93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10800039" y="2808144"/>
            <a:ext cx="514872" cy="1584611"/>
          </a:xfrm>
          <a:prstGeom prst="line">
            <a:avLst/>
          </a:prstGeom>
          <a:ln w="28575">
            <a:solidFill>
              <a:srgbClr val="8A93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9133880" y="4392755"/>
            <a:ext cx="1666159" cy="0"/>
          </a:xfrm>
          <a:prstGeom prst="line">
            <a:avLst/>
          </a:prstGeom>
          <a:ln w="28575">
            <a:solidFill>
              <a:srgbClr val="8A93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 flipV="1">
            <a:off x="8619008" y="2808144"/>
            <a:ext cx="514872" cy="1584611"/>
          </a:xfrm>
          <a:prstGeom prst="line">
            <a:avLst/>
          </a:prstGeom>
          <a:ln w="28575">
            <a:solidFill>
              <a:srgbClr val="8A93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8619008" y="1828799"/>
            <a:ext cx="1347952" cy="979345"/>
          </a:xfrm>
          <a:prstGeom prst="line">
            <a:avLst/>
          </a:prstGeom>
          <a:ln w="28575">
            <a:solidFill>
              <a:srgbClr val="8A93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9656064" y="1517903"/>
            <a:ext cx="621792" cy="621792"/>
          </a:xfrm>
          <a:prstGeom prst="ellipse">
            <a:avLst/>
          </a:prstGeom>
          <a:solidFill>
            <a:srgbClr val="E4572E"/>
          </a:solidFill>
          <a:ln w="25400">
            <a:solidFill>
              <a:srgbClr val="3A4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0</a:t>
            </a:r>
          </a:p>
        </p:txBody>
      </p:sp>
      <p:sp>
        <p:nvSpPr>
          <p:cNvPr id="11" name="Oval 10"/>
          <p:cNvSpPr/>
          <p:nvPr/>
        </p:nvSpPr>
        <p:spPr>
          <a:xfrm>
            <a:off x="11004015" y="2497248"/>
            <a:ext cx="621792" cy="621792"/>
          </a:xfrm>
          <a:prstGeom prst="ellipse">
            <a:avLst/>
          </a:prstGeom>
          <a:solidFill>
            <a:srgbClr val="2E86DE"/>
          </a:solidFill>
          <a:ln w="25400">
            <a:solidFill>
              <a:srgbClr val="3A4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2" name="Oval 11"/>
          <p:cNvSpPr/>
          <p:nvPr/>
        </p:nvSpPr>
        <p:spPr>
          <a:xfrm>
            <a:off x="10489143" y="4081859"/>
            <a:ext cx="621792" cy="621792"/>
          </a:xfrm>
          <a:prstGeom prst="ellipse">
            <a:avLst/>
          </a:prstGeom>
          <a:solidFill>
            <a:srgbClr val="E4572E"/>
          </a:solidFill>
          <a:ln w="25400">
            <a:solidFill>
              <a:srgbClr val="3A4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3" name="Oval 12"/>
          <p:cNvSpPr/>
          <p:nvPr/>
        </p:nvSpPr>
        <p:spPr>
          <a:xfrm>
            <a:off x="8822984" y="4081859"/>
            <a:ext cx="621792" cy="621792"/>
          </a:xfrm>
          <a:prstGeom prst="ellipse">
            <a:avLst/>
          </a:prstGeom>
          <a:solidFill>
            <a:srgbClr val="2E86DE"/>
          </a:solidFill>
          <a:ln w="25400">
            <a:solidFill>
              <a:srgbClr val="3A4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14" name="Oval 13"/>
          <p:cNvSpPr/>
          <p:nvPr/>
        </p:nvSpPr>
        <p:spPr>
          <a:xfrm>
            <a:off x="8308112" y="2497248"/>
            <a:ext cx="621792" cy="621792"/>
          </a:xfrm>
          <a:prstGeom prst="ellipse">
            <a:avLst/>
          </a:prstGeom>
          <a:solidFill>
            <a:srgbClr val="F5B700"/>
          </a:solidFill>
          <a:ln w="25400">
            <a:solidFill>
              <a:srgbClr val="3A4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600" b="1">
                <a:solidFill>
                  <a:srgbClr val="2B3245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4937760"/>
            <a:ext cx="29260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AAB4CC"/>
                </a:solidFill>
                <a:latin typeface="Microsoft YaHei"/>
                <a:ea typeface="Microsoft YaHei"/>
              </a:rPr>
              <a:t>五元环 C5：二染色失败，三染色成功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84048"/>
            <a:ext cx="128016" cy="566928"/>
          </a:xfrm>
          <a:prstGeom prst="rect">
            <a:avLst/>
          </a:prstGeom>
          <a:solidFill>
            <a:srgbClr val="2E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92608"/>
            <a:ext cx="1133856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2A44"/>
                </a:solidFill>
                <a:latin typeface="Microsoft YaHei"/>
                <a:ea typeface="Microsoft YaHei"/>
              </a:rPr>
              <a:t>从地图到图：抽象掉形状，只留下关系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78408"/>
            <a:ext cx="1124712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B7280"/>
                </a:solidFill>
                <a:latin typeface="Microsoft YaHei"/>
                <a:ea typeface="Microsoft YaHei"/>
              </a:rPr>
              <a:t>给地图上色，相邻区域颜色必须不同——把区域缩成点、相邻连成边，地图就变成了图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91640"/>
            <a:ext cx="1371600" cy="2743200"/>
          </a:xfrm>
          <a:prstGeom prst="rect">
            <a:avLst/>
          </a:prstGeom>
          <a:solidFill>
            <a:srgbClr val="E4572E"/>
          </a:solidFill>
          <a:ln w="508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A</a:t>
            </a:r>
          </a:p>
        </p:txBody>
      </p:sp>
      <p:sp>
        <p:nvSpPr>
          <p:cNvPr id="6" name="Rectangle 5"/>
          <p:cNvSpPr/>
          <p:nvPr/>
        </p:nvSpPr>
        <p:spPr>
          <a:xfrm>
            <a:off x="2103120" y="1691640"/>
            <a:ext cx="1371600" cy="1371600"/>
          </a:xfrm>
          <a:prstGeom prst="rect">
            <a:avLst/>
          </a:prstGeom>
          <a:solidFill>
            <a:srgbClr val="2E86DE"/>
          </a:solidFill>
          <a:ln w="508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B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1691640"/>
            <a:ext cx="1371600" cy="1371600"/>
          </a:xfrm>
          <a:prstGeom prst="rect">
            <a:avLst/>
          </a:prstGeom>
          <a:solidFill>
            <a:srgbClr val="E4572E"/>
          </a:solidFill>
          <a:ln w="508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C</a:t>
            </a:r>
          </a:p>
        </p:txBody>
      </p:sp>
      <p:sp>
        <p:nvSpPr>
          <p:cNvPr id="8" name="Rectangle 7"/>
          <p:cNvSpPr/>
          <p:nvPr/>
        </p:nvSpPr>
        <p:spPr>
          <a:xfrm>
            <a:off x="2103120" y="3063240"/>
            <a:ext cx="1371600" cy="1371600"/>
          </a:xfrm>
          <a:prstGeom prst="rect">
            <a:avLst/>
          </a:prstGeom>
          <a:solidFill>
            <a:srgbClr val="F5B700"/>
          </a:solidFill>
          <a:ln w="508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2600" b="1">
                <a:solidFill>
                  <a:srgbClr val="2B3245"/>
                </a:solidFill>
                <a:latin typeface="Microsoft YaHei"/>
                <a:ea typeface="Microsoft YaHei"/>
              </a:rPr>
              <a:t>D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3063240"/>
            <a:ext cx="1371600" cy="1371600"/>
          </a:xfrm>
          <a:prstGeom prst="rect">
            <a:avLst/>
          </a:prstGeom>
          <a:solidFill>
            <a:srgbClr val="2E86DE"/>
          </a:solidFill>
          <a:ln w="508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4114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Microsoft YaHei"/>
                <a:ea typeface="Microsoft YaHei"/>
              </a:rPr>
              <a:t>地图：形状、面积都不重要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120640" y="2697480"/>
            <a:ext cx="1188720" cy="640080"/>
          </a:xfrm>
          <a:prstGeom prst="rightArrow">
            <a:avLst/>
          </a:prstGeom>
          <a:solidFill>
            <a:srgbClr val="2E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抽象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6766560" y="2057400"/>
            <a:ext cx="1371600" cy="1005840"/>
          </a:xfrm>
          <a:prstGeom prst="line">
            <a:avLst/>
          </a:prstGeom>
          <a:ln w="28575">
            <a:solidFill>
              <a:srgbClr val="8A93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766560" y="3063240"/>
            <a:ext cx="1371600" cy="1005840"/>
          </a:xfrm>
          <a:prstGeom prst="line">
            <a:avLst/>
          </a:prstGeom>
          <a:ln w="28575">
            <a:solidFill>
              <a:srgbClr val="8A93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138160" y="2057400"/>
            <a:ext cx="1645920" cy="0"/>
          </a:xfrm>
          <a:prstGeom prst="line">
            <a:avLst/>
          </a:prstGeom>
          <a:ln w="28575">
            <a:solidFill>
              <a:srgbClr val="8A93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138160" y="2057400"/>
            <a:ext cx="0" cy="2011680"/>
          </a:xfrm>
          <a:prstGeom prst="line">
            <a:avLst/>
          </a:prstGeom>
          <a:ln w="28575">
            <a:solidFill>
              <a:srgbClr val="8A93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784080" y="2057400"/>
            <a:ext cx="0" cy="2011680"/>
          </a:xfrm>
          <a:prstGeom prst="line">
            <a:avLst/>
          </a:prstGeom>
          <a:ln w="28575">
            <a:solidFill>
              <a:srgbClr val="8A93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138160" y="4069080"/>
            <a:ext cx="1645920" cy="0"/>
          </a:xfrm>
          <a:prstGeom prst="line">
            <a:avLst/>
          </a:prstGeom>
          <a:ln w="28575">
            <a:solidFill>
              <a:srgbClr val="8A93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6464808" y="2761488"/>
            <a:ext cx="603504" cy="603504"/>
          </a:xfrm>
          <a:prstGeom prst="ellipse">
            <a:avLst/>
          </a:prstGeom>
          <a:solidFill>
            <a:srgbClr val="E4572E"/>
          </a:solidFill>
          <a:ln w="25400">
            <a:solidFill>
              <a:srgbClr val="3A4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A</a:t>
            </a:r>
          </a:p>
        </p:txBody>
      </p:sp>
      <p:sp>
        <p:nvSpPr>
          <p:cNvPr id="19" name="Oval 18"/>
          <p:cNvSpPr/>
          <p:nvPr/>
        </p:nvSpPr>
        <p:spPr>
          <a:xfrm>
            <a:off x="7836408" y="1755648"/>
            <a:ext cx="603504" cy="603504"/>
          </a:xfrm>
          <a:prstGeom prst="ellipse">
            <a:avLst/>
          </a:prstGeom>
          <a:solidFill>
            <a:srgbClr val="2E86DE"/>
          </a:solidFill>
          <a:ln w="25400">
            <a:solidFill>
              <a:srgbClr val="3A4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B</a:t>
            </a:r>
          </a:p>
        </p:txBody>
      </p:sp>
      <p:sp>
        <p:nvSpPr>
          <p:cNvPr id="20" name="Oval 19"/>
          <p:cNvSpPr/>
          <p:nvPr/>
        </p:nvSpPr>
        <p:spPr>
          <a:xfrm>
            <a:off x="7836408" y="3767328"/>
            <a:ext cx="603504" cy="603504"/>
          </a:xfrm>
          <a:prstGeom prst="ellipse">
            <a:avLst/>
          </a:prstGeom>
          <a:solidFill>
            <a:srgbClr val="F5B700"/>
          </a:solidFill>
          <a:ln w="25400">
            <a:solidFill>
              <a:srgbClr val="3A4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600" b="1">
                <a:solidFill>
                  <a:srgbClr val="2B3245"/>
                </a:solidFill>
                <a:latin typeface="Microsoft YaHei"/>
                <a:ea typeface="Microsoft YaHei"/>
              </a:rPr>
              <a:t>D</a:t>
            </a:r>
          </a:p>
        </p:txBody>
      </p:sp>
      <p:sp>
        <p:nvSpPr>
          <p:cNvPr id="21" name="Oval 20"/>
          <p:cNvSpPr/>
          <p:nvPr/>
        </p:nvSpPr>
        <p:spPr>
          <a:xfrm>
            <a:off x="9482328" y="1755648"/>
            <a:ext cx="603504" cy="603504"/>
          </a:xfrm>
          <a:prstGeom prst="ellipse">
            <a:avLst/>
          </a:prstGeom>
          <a:solidFill>
            <a:srgbClr val="E4572E"/>
          </a:solidFill>
          <a:ln w="25400">
            <a:solidFill>
              <a:srgbClr val="3A4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C</a:t>
            </a:r>
          </a:p>
        </p:txBody>
      </p:sp>
      <p:sp>
        <p:nvSpPr>
          <p:cNvPr id="22" name="Oval 21"/>
          <p:cNvSpPr/>
          <p:nvPr/>
        </p:nvSpPr>
        <p:spPr>
          <a:xfrm>
            <a:off x="9482328" y="3767328"/>
            <a:ext cx="603504" cy="603504"/>
          </a:xfrm>
          <a:prstGeom prst="ellipse">
            <a:avLst/>
          </a:prstGeom>
          <a:solidFill>
            <a:srgbClr val="2E86DE"/>
          </a:solidFill>
          <a:ln w="25400">
            <a:solidFill>
              <a:srgbClr val="3A4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480560"/>
            <a:ext cx="4023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Microsoft YaHei"/>
                <a:ea typeface="Microsoft YaHei"/>
              </a:rPr>
              <a:t>图：顶点 = 区域，边 = 相邻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937760"/>
            <a:ext cx="3520440" cy="1417320"/>
          </a:xfrm>
          <a:prstGeom prst="roundRect">
            <a:avLst>
              <a:gd name="adj" fmla="val 7741"/>
            </a:avLst>
          </a:prstGeom>
          <a:solidFill>
            <a:srgbClr val="EEF2FA"/>
          </a:solidFill>
          <a:ln w="15875">
            <a:solidFill>
              <a:srgbClr val="D5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600" b="1">
                <a:solidFill>
                  <a:srgbClr val="1F2A44"/>
                </a:solidFill>
                <a:latin typeface="Microsoft YaHei"/>
                <a:ea typeface="Microsoft YaHei"/>
              </a:rPr>
              <a:t>编译器寄存器分配</a:t>
            </a:r>
          </a:p>
          <a:p>
            <a:pPr algn="ctr"/>
            <a:r>
              <a:rPr sz="1400" b="0">
                <a:solidFill>
                  <a:srgbClr val="2B3245"/>
                </a:solidFill>
                <a:latin typeface="Microsoft YaHei"/>
                <a:ea typeface="Microsoft YaHei"/>
              </a:rPr>
              <a:t>变量 → 顶点</a:t>
            </a:r>
          </a:p>
          <a:p>
            <a:pPr algn="ctr"/>
            <a:r>
              <a:rPr sz="1400" b="0">
                <a:solidFill>
                  <a:srgbClr val="2B3245"/>
                </a:solidFill>
                <a:latin typeface="Microsoft YaHei"/>
                <a:ea typeface="Microsoft YaHei"/>
              </a:rPr>
              <a:t>同时活跃 → 边</a:t>
            </a:r>
          </a:p>
          <a:p>
            <a:pPr algn="ctr"/>
            <a:r>
              <a:rPr sz="1400" b="0">
                <a:solidFill>
                  <a:srgbClr val="2B3245"/>
                </a:solidFill>
                <a:latin typeface="Microsoft YaHei"/>
                <a:ea typeface="Microsoft YaHei"/>
              </a:rPr>
              <a:t>寄存器 → 颜色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80559" y="4937760"/>
            <a:ext cx="3520440" cy="1417320"/>
          </a:xfrm>
          <a:prstGeom prst="roundRect">
            <a:avLst>
              <a:gd name="adj" fmla="val 7741"/>
            </a:avLst>
          </a:prstGeom>
          <a:solidFill>
            <a:srgbClr val="EEF2FA"/>
          </a:solidFill>
          <a:ln w="15875">
            <a:solidFill>
              <a:srgbClr val="D5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600" b="1">
                <a:solidFill>
                  <a:srgbClr val="1F2A44"/>
                </a:solidFill>
                <a:latin typeface="Microsoft YaHei"/>
                <a:ea typeface="Microsoft YaHei"/>
              </a:rPr>
              <a:t>教务排考试</a:t>
            </a:r>
          </a:p>
          <a:p>
            <a:pPr algn="ctr"/>
            <a:r>
              <a:rPr sz="1400" b="0">
                <a:solidFill>
                  <a:srgbClr val="2B3245"/>
                </a:solidFill>
                <a:latin typeface="Microsoft YaHei"/>
                <a:ea typeface="Microsoft YaHei"/>
              </a:rPr>
              <a:t>课程 → 顶点</a:t>
            </a:r>
          </a:p>
          <a:p>
            <a:pPr algn="ctr"/>
            <a:r>
              <a:rPr sz="1400" b="0">
                <a:solidFill>
                  <a:srgbClr val="2B3245"/>
                </a:solidFill>
                <a:latin typeface="Microsoft YaHei"/>
                <a:ea typeface="Microsoft YaHei"/>
              </a:rPr>
              <a:t>有共同学生 → 边</a:t>
            </a:r>
          </a:p>
          <a:p>
            <a:pPr algn="ctr"/>
            <a:r>
              <a:rPr sz="1400" b="0">
                <a:solidFill>
                  <a:srgbClr val="2B3245"/>
                </a:solidFill>
                <a:latin typeface="Microsoft YaHei"/>
                <a:ea typeface="Microsoft YaHei"/>
              </a:rPr>
              <a:t>考试时段 → 颜色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4937760"/>
            <a:ext cx="3520440" cy="1417320"/>
          </a:xfrm>
          <a:prstGeom prst="roundRect">
            <a:avLst>
              <a:gd name="adj" fmla="val 7741"/>
            </a:avLst>
          </a:prstGeom>
          <a:solidFill>
            <a:srgbClr val="EEF2FA"/>
          </a:solidFill>
          <a:ln w="15875">
            <a:solidFill>
              <a:srgbClr val="D5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600" b="1">
                <a:solidFill>
                  <a:srgbClr val="1F2A44"/>
                </a:solidFill>
                <a:latin typeface="Microsoft YaHei"/>
                <a:ea typeface="Microsoft YaHei"/>
              </a:rPr>
              <a:t>无线电频点分配</a:t>
            </a:r>
          </a:p>
          <a:p>
            <a:pPr algn="ctr"/>
            <a:r>
              <a:rPr sz="1400" b="0">
                <a:solidFill>
                  <a:srgbClr val="2B3245"/>
                </a:solidFill>
                <a:latin typeface="Microsoft YaHei"/>
                <a:ea typeface="Microsoft YaHei"/>
              </a:rPr>
              <a:t>基站 → 顶点</a:t>
            </a:r>
          </a:p>
          <a:p>
            <a:pPr algn="ctr"/>
            <a:r>
              <a:rPr sz="1400" b="0">
                <a:solidFill>
                  <a:srgbClr val="2B3245"/>
                </a:solidFill>
                <a:latin typeface="Microsoft YaHei"/>
                <a:ea typeface="Microsoft YaHei"/>
              </a:rPr>
              <a:t>相邻干扰 → 边</a:t>
            </a:r>
          </a:p>
          <a:p>
            <a:pPr algn="ctr"/>
            <a:r>
              <a:rPr sz="1400" b="0">
                <a:solidFill>
                  <a:srgbClr val="2B3245"/>
                </a:solidFill>
                <a:latin typeface="Microsoft YaHei"/>
                <a:ea typeface="Microsoft YaHei"/>
              </a:rPr>
              <a:t>频率 → 颜色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A5BD"/>
                </a:solidFill>
                <a:latin typeface="Microsoft YaHei"/>
                <a:ea typeface="Microsoft YaHei"/>
              </a:rPr>
              <a:t>图三染色 · Basic 展示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473952"/>
            <a:ext cx="10058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AA5BD"/>
                </a:solidFill>
                <a:latin typeface="Microsoft YaHei"/>
                <a:ea typeface="Microsoft YaHei"/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84048"/>
            <a:ext cx="128016" cy="566928"/>
          </a:xfrm>
          <a:prstGeom prst="rect">
            <a:avLst/>
          </a:prstGeom>
          <a:solidFill>
            <a:srgbClr val="2E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92608"/>
            <a:ext cx="1133856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2A44"/>
                </a:solidFill>
                <a:latin typeface="Microsoft YaHei"/>
                <a:ea typeface="Microsoft YaHei"/>
              </a:rPr>
              <a:t>2 色、3 色、4 色：恰好踩在难易分界线上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78408"/>
            <a:ext cx="1124712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B7280"/>
                </a:solidFill>
                <a:latin typeface="Microsoft YaHei"/>
                <a:ea typeface="Microsoft YaHei"/>
              </a:rPr>
              <a:t>只多一种颜色，问题从“瞬间可解”掉进“无人会解”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3566160" cy="40233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5875">
            <a:solidFill>
              <a:srgbClr val="D5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600" b="0">
                <a:solidFill>
                  <a:srgbClr val="2B3245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3566160" cy="1234440"/>
          </a:xfrm>
          <a:prstGeom prst="roundRect">
            <a:avLst>
              <a:gd name="adj" fmla="val 5925"/>
            </a:avLst>
          </a:prstGeom>
          <a:solidFill>
            <a:srgbClr val="2BA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2 色</a:t>
            </a:r>
          </a:p>
          <a:p>
            <a:pPr algn="ctr"/>
            <a:r>
              <a:rPr sz="1600" b="0">
                <a:solidFill>
                  <a:srgbClr val="FFFFFF"/>
                </a:solidFill>
                <a:latin typeface="Microsoft YaHei"/>
                <a:ea typeface="Microsoft YaHei"/>
              </a:rPr>
              <a:t>二分图判定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08960"/>
            <a:ext cx="3291840" cy="2560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56032" indent="-256032">
              <a:spcAft>
                <a:spcPts val="1200"/>
              </a:spcAft>
              <a:buFont typeface="Arial"/>
              <a:buChar char="•"/>
            </a:pPr>
            <a:r>
              <a:rPr sz="1700" b="0">
                <a:solidFill>
                  <a:srgbClr val="2B3245"/>
                </a:solidFill>
                <a:latin typeface="Microsoft YaHei"/>
                <a:ea typeface="Microsoft YaHei"/>
              </a:rPr>
              <a:t>线性时间 O(n+m)</a:t>
            </a:r>
          </a:p>
          <a:p>
            <a:pPr algn="l" marL="256032" indent="-256032">
              <a:spcAft>
                <a:spcPts val="1200"/>
              </a:spcAft>
              <a:buFont typeface="Arial"/>
              <a:buChar char="•"/>
            </a:pPr>
            <a:r>
              <a:rPr sz="1700" b="0">
                <a:solidFill>
                  <a:srgbClr val="2B3245"/>
                </a:solidFill>
                <a:latin typeface="Microsoft YaHei"/>
                <a:ea typeface="Microsoft YaHei"/>
              </a:rPr>
              <a:t>BFS/DFS 交替染色</a:t>
            </a:r>
          </a:p>
          <a:p>
            <a:pPr algn="l" marL="256032" indent="-256032">
              <a:spcAft>
                <a:spcPts val="1200"/>
              </a:spcAft>
              <a:buFont typeface="Arial"/>
              <a:buChar char="•"/>
            </a:pPr>
            <a:r>
              <a:rPr sz="1700" b="0">
                <a:solidFill>
                  <a:srgbClr val="2B3245"/>
                </a:solidFill>
                <a:latin typeface="Microsoft YaHei"/>
                <a:ea typeface="Microsoft YaHei"/>
              </a:rPr>
              <a:t>没有选择，不需要回溯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691640"/>
            <a:ext cx="3566160" cy="40233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5875">
            <a:solidFill>
              <a:srgbClr val="D5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600" b="0">
                <a:solidFill>
                  <a:srgbClr val="2B3245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691640"/>
            <a:ext cx="3566160" cy="1234440"/>
          </a:xfrm>
          <a:prstGeom prst="roundRect">
            <a:avLst>
              <a:gd name="adj" fmla="val 5925"/>
            </a:avLst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3 色</a:t>
            </a:r>
          </a:p>
          <a:p>
            <a:pPr algn="ctr"/>
            <a:r>
              <a:rPr sz="1600" b="0">
                <a:solidFill>
                  <a:srgbClr val="FFFFFF"/>
                </a:solidFill>
                <a:latin typeface="Microsoft YaHei"/>
                <a:ea typeface="Microsoft YaHei"/>
              </a:rPr>
              <a:t>NP 完全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108960"/>
            <a:ext cx="3291840" cy="2560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56032" indent="-256032">
              <a:spcAft>
                <a:spcPts val="1200"/>
              </a:spcAft>
              <a:buFont typeface="Arial"/>
              <a:buChar char="•"/>
            </a:pPr>
            <a:r>
              <a:rPr sz="1700" b="0">
                <a:solidFill>
                  <a:srgbClr val="2B3245"/>
                </a:solidFill>
                <a:latin typeface="Microsoft YaHei"/>
                <a:ea typeface="Microsoft YaHei"/>
              </a:rPr>
              <a:t>Karp 1972：21 个 NP 完全问题之一</a:t>
            </a:r>
          </a:p>
          <a:p>
            <a:pPr algn="l" marL="256032" indent="-256032">
              <a:spcAft>
                <a:spcPts val="1200"/>
              </a:spcAft>
              <a:buFont typeface="Arial"/>
              <a:buChar char="•"/>
            </a:pPr>
            <a:r>
              <a:rPr sz="1700" b="0">
                <a:solidFill>
                  <a:srgbClr val="2B3245"/>
                </a:solidFill>
                <a:latin typeface="Microsoft YaHei"/>
                <a:ea typeface="Microsoft YaHei"/>
              </a:rPr>
              <a:t>限定平面图仍是 NP 完全（Garey–Johnson–Stockmeyer, 1976）</a:t>
            </a:r>
          </a:p>
          <a:p>
            <a:pPr algn="l" marL="256032" indent="-256032">
              <a:spcAft>
                <a:spcPts val="1200"/>
              </a:spcAft>
              <a:buFont typeface="Arial"/>
              <a:buChar char="•"/>
            </a:pPr>
            <a:r>
              <a:rPr sz="1700" b="0">
                <a:solidFill>
                  <a:srgbClr val="2B3245"/>
                </a:solidFill>
                <a:latin typeface="Microsoft YaHei"/>
                <a:ea typeface="Microsoft YaHei"/>
              </a:rPr>
              <a:t>验证容易、求解没有已知的快速通用算法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691640"/>
            <a:ext cx="3566160" cy="40233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5875">
            <a:solidFill>
              <a:srgbClr val="D5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600" b="0">
                <a:solidFill>
                  <a:srgbClr val="2B3245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691640"/>
            <a:ext cx="3566160" cy="1234440"/>
          </a:xfrm>
          <a:prstGeom prst="roundRect">
            <a:avLst>
              <a:gd name="adj" fmla="val 5925"/>
            </a:avLst>
          </a:prstGeom>
          <a:solidFill>
            <a:srgbClr val="2E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平面图 4 色</a:t>
            </a:r>
          </a:p>
          <a:p>
            <a:pPr algn="ctr"/>
            <a:r>
              <a:rPr sz="1600" b="0">
                <a:solidFill>
                  <a:srgbClr val="FFFFFF"/>
                </a:solidFill>
                <a:latin typeface="Microsoft YaHei"/>
                <a:ea typeface="Microsoft YaHei"/>
              </a:rPr>
              <a:t>四色定理：永远有解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3108960"/>
            <a:ext cx="3291840" cy="2560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56032" indent="-256032">
              <a:spcAft>
                <a:spcPts val="1200"/>
              </a:spcAft>
              <a:buFont typeface="Arial"/>
              <a:buChar char="•"/>
            </a:pPr>
            <a:r>
              <a:rPr sz="1700" b="0">
                <a:solidFill>
                  <a:srgbClr val="2B3245"/>
                </a:solidFill>
                <a:latin typeface="Microsoft YaHei"/>
                <a:ea typeface="Microsoft YaHei"/>
              </a:rPr>
              <a:t>1976 年 Appel–Haken 计算机辅助证明</a:t>
            </a:r>
          </a:p>
          <a:p>
            <a:pPr algn="l" marL="256032" indent="-256032">
              <a:spcAft>
                <a:spcPts val="1200"/>
              </a:spcAft>
              <a:buFont typeface="Arial"/>
              <a:buChar char="•"/>
            </a:pPr>
            <a:r>
              <a:rPr sz="1700" b="0">
                <a:solidFill>
                  <a:srgbClr val="2B3245"/>
                </a:solidFill>
                <a:latin typeface="Microsoft YaHei"/>
                <a:ea typeface="Microsoft YaHei"/>
              </a:rPr>
              <a:t>存在 O(n²) 算法</a:t>
            </a:r>
          </a:p>
          <a:p>
            <a:pPr algn="l" marL="256032" indent="-256032">
              <a:spcAft>
                <a:spcPts val="1200"/>
              </a:spcAft>
              <a:buFont typeface="Arial"/>
              <a:buChar char="•"/>
            </a:pPr>
            <a:r>
              <a:rPr sz="1700" b="0">
                <a:solidFill>
                  <a:srgbClr val="2B3245"/>
                </a:solidFill>
                <a:latin typeface="Microsoft YaHei"/>
                <a:ea typeface="Microsoft YaHei"/>
              </a:rPr>
              <a:t>所以本项目选三色：三色才是搜索问题的战场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Microsoft YaHei"/>
                <a:ea typeface="Microsoft YaHei"/>
              </a:rPr>
              <a:t>NP 完全 ≠ 每个实例都难，也不表示已证明 P ≠ NP —— 这一点后面用数据说明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A5BD"/>
                </a:solidFill>
                <a:latin typeface="Microsoft YaHei"/>
                <a:ea typeface="Microsoft YaHei"/>
              </a:rPr>
              <a:t>图三染色 · Basic 展示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73952"/>
            <a:ext cx="10058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AA5BD"/>
                </a:solidFill>
                <a:latin typeface="Microsoft YaHei"/>
                <a:ea typeface="Microsoft YaHei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84048"/>
            <a:ext cx="128016" cy="566928"/>
          </a:xfrm>
          <a:prstGeom prst="rect">
            <a:avLst/>
          </a:prstGeom>
          <a:solidFill>
            <a:srgbClr val="2E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92608"/>
            <a:ext cx="1133856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2A44"/>
                </a:solidFill>
                <a:latin typeface="Microsoft YaHei"/>
                <a:ea typeface="Microsoft YaHei"/>
              </a:rPr>
              <a:t>任务一：二染色——线性时间，没有选择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78408"/>
            <a:ext cx="1124712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B7280"/>
                </a:solidFill>
                <a:latin typeface="Microsoft YaHei"/>
                <a:ea typeface="Microsoft YaHei"/>
              </a:rPr>
              <a:t>BFS 交替染色；奇环必然矛盾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5760720" cy="3063240"/>
          </a:xfrm>
          <a:prstGeom prst="roundRect">
            <a:avLst>
              <a:gd name="adj" fmla="val 1791"/>
            </a:avLst>
          </a:prstGeom>
          <a:solidFill>
            <a:srgbClr val="F4F6FA"/>
          </a:solidFill>
          <a:ln w="15875">
            <a:solidFill>
              <a:srgbClr val="D5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600" b="0">
                <a:solidFill>
                  <a:srgbClr val="2B3245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557784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300" b="0">
                <a:solidFill>
                  <a:srgbClr val="2B3245"/>
                </a:solidFill>
                <a:latin typeface="Consolas"/>
                <a:ea typeface="Consolas"/>
              </a:rPr>
              <a:t>two_color(n, adj):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2B3245"/>
                </a:solidFill>
                <a:latin typeface="Consolas"/>
                <a:ea typeface="Consolas"/>
              </a:rPr>
              <a:t>  color ← [-1] × n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2B3245"/>
                </a:solidFill>
                <a:latin typeface="Consolas"/>
                <a:ea typeface="Consolas"/>
              </a:rPr>
              <a:t>  for s in 0..n-1 且 color[s] == -1:   # 每个连通分量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2B3245"/>
                </a:solidFill>
                <a:latin typeface="Consolas"/>
                <a:ea typeface="Consolas"/>
              </a:rPr>
              <a:t>      color[s] ← 0;  queue ← [s]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2B3245"/>
                </a:solidFill>
                <a:latin typeface="Consolas"/>
                <a:ea typeface="Consolas"/>
              </a:rPr>
              <a:t>      while queue 非空: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2B3245"/>
                </a:solidFill>
                <a:latin typeface="Consolas"/>
                <a:ea typeface="Consolas"/>
              </a:rPr>
              <a:t>          u ← queue.pop()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2B3245"/>
                </a:solidFill>
                <a:latin typeface="Consolas"/>
                <a:ea typeface="Consolas"/>
              </a:rPr>
              <a:t>          for v in adj[u]: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2B3245"/>
                </a:solidFill>
                <a:latin typeface="Consolas"/>
                <a:ea typeface="Consolas"/>
              </a:rPr>
              <a:t>              if color[v] == -1: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2B3245"/>
                </a:solidFill>
                <a:latin typeface="Consolas"/>
                <a:ea typeface="Consolas"/>
              </a:rPr>
              <a:t>                  color[v] ← 1 - color[u]; queue.push(v)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2B3245"/>
                </a:solidFill>
                <a:latin typeface="Consolas"/>
                <a:ea typeface="Consolas"/>
              </a:rPr>
              <a:t>              elif color[v] == color[u]: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2B3245"/>
                </a:solidFill>
                <a:latin typeface="Consolas"/>
                <a:ea typeface="Consolas"/>
              </a:rPr>
              <a:t>                  return None            # 奇环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2B3245"/>
                </a:solidFill>
                <a:latin typeface="Consolas"/>
                <a:ea typeface="Consolas"/>
              </a:rPr>
              <a:t>  return color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754880"/>
            <a:ext cx="5760720" cy="1737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56032" indent="-256032">
              <a:spcAft>
                <a:spcPts val="600"/>
              </a:spcAft>
              <a:buFont typeface="Arial"/>
              <a:buChar char="•"/>
            </a:pPr>
            <a:r>
              <a:rPr sz="1500" b="0">
                <a:solidFill>
                  <a:srgbClr val="2B3245"/>
                </a:solidFill>
                <a:latin typeface="Microsoft YaHei"/>
                <a:ea typeface="Microsoft YaHei"/>
              </a:rPr>
              <a:t>为什么是线性：每个顶点最多入队一次，每条边从两端各看一次 → O(n+m)</a:t>
            </a:r>
          </a:p>
          <a:p>
            <a:pPr algn="l" marL="256032" indent="-256032">
              <a:spcAft>
                <a:spcPts val="600"/>
              </a:spcAft>
              <a:buFont typeface="Arial"/>
              <a:buChar char="•"/>
            </a:pPr>
            <a:r>
              <a:rPr sz="1500" b="0">
                <a:solidFill>
                  <a:srgbClr val="2B3245"/>
                </a:solidFill>
                <a:latin typeface="Microsoft YaHei"/>
                <a:ea typeface="Microsoft YaHei"/>
              </a:rPr>
              <a:t>为什么不需要回溯：起点定色后，分量内其余颜色被唯一决定</a:t>
            </a:r>
          </a:p>
          <a:p>
            <a:pPr algn="l" marL="256032" indent="-256032">
              <a:spcAft>
                <a:spcPts val="600"/>
              </a:spcAft>
              <a:buFont typeface="Arial"/>
              <a:buChar char="•"/>
            </a:pPr>
            <a:r>
              <a:rPr sz="1500" b="0">
                <a:solidFill>
                  <a:srgbClr val="2B3245"/>
                </a:solidFill>
                <a:latin typeface="Microsoft YaHei"/>
                <a:ea typeface="Microsoft YaHei"/>
              </a:rPr>
              <a:t>孤立点、不连通图：每个未染色顶点重新作起点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223760" y="2103120"/>
            <a:ext cx="1463040" cy="0"/>
          </a:xfrm>
          <a:prstGeom prst="line">
            <a:avLst/>
          </a:prstGeom>
          <a:ln w="28575">
            <a:solidFill>
              <a:srgbClr val="8A93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686800" y="2103120"/>
            <a:ext cx="0" cy="1463040"/>
          </a:xfrm>
          <a:prstGeom prst="line">
            <a:avLst/>
          </a:prstGeom>
          <a:ln w="28575">
            <a:solidFill>
              <a:srgbClr val="8A93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7223760" y="3566160"/>
            <a:ext cx="1463040" cy="0"/>
          </a:xfrm>
          <a:prstGeom prst="line">
            <a:avLst/>
          </a:prstGeom>
          <a:ln w="28575">
            <a:solidFill>
              <a:srgbClr val="8A93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7223760" y="2103120"/>
            <a:ext cx="0" cy="1463040"/>
          </a:xfrm>
          <a:prstGeom prst="line">
            <a:avLst/>
          </a:prstGeom>
          <a:ln w="28575">
            <a:solidFill>
              <a:srgbClr val="8A93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6949440" y="1828799"/>
            <a:ext cx="548640" cy="548640"/>
          </a:xfrm>
          <a:prstGeom prst="ellipse">
            <a:avLst/>
          </a:prstGeom>
          <a:solidFill>
            <a:srgbClr val="E4572E"/>
          </a:solidFill>
          <a:ln w="25400">
            <a:solidFill>
              <a:srgbClr val="3A4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0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0" y="1828799"/>
            <a:ext cx="548640" cy="548640"/>
          </a:xfrm>
          <a:prstGeom prst="ellipse">
            <a:avLst/>
          </a:prstGeom>
          <a:solidFill>
            <a:srgbClr val="2E86DE"/>
          </a:solidFill>
          <a:ln w="25400">
            <a:solidFill>
              <a:srgbClr val="3A4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4" name="Oval 13"/>
          <p:cNvSpPr/>
          <p:nvPr/>
        </p:nvSpPr>
        <p:spPr>
          <a:xfrm>
            <a:off x="8412480" y="3291840"/>
            <a:ext cx="548640" cy="548640"/>
          </a:xfrm>
          <a:prstGeom prst="ellipse">
            <a:avLst/>
          </a:prstGeom>
          <a:solidFill>
            <a:srgbClr val="E4572E"/>
          </a:solidFill>
          <a:ln w="25400">
            <a:solidFill>
              <a:srgbClr val="3A4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6949440" y="3291840"/>
            <a:ext cx="548640" cy="548640"/>
          </a:xfrm>
          <a:prstGeom prst="ellipse">
            <a:avLst/>
          </a:prstGeom>
          <a:solidFill>
            <a:srgbClr val="2E86DE"/>
          </a:solidFill>
          <a:ln w="25400">
            <a:solidFill>
              <a:srgbClr val="3A4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977639"/>
            <a:ext cx="2743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2BA84A"/>
                </a:solidFill>
                <a:latin typeface="Microsoft YaHei"/>
                <a:ea typeface="Microsoft YaHei"/>
              </a:rPr>
              <a:t>C4（偶环）：[0,1,0,1] ✓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9784080" y="2011680"/>
            <a:ext cx="731520" cy="1554480"/>
          </a:xfrm>
          <a:prstGeom prst="line">
            <a:avLst/>
          </a:prstGeom>
          <a:ln w="28575">
            <a:solidFill>
              <a:srgbClr val="8A93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784080" y="3566160"/>
            <a:ext cx="1463040" cy="0"/>
          </a:xfrm>
          <a:prstGeom prst="line">
            <a:avLst/>
          </a:prstGeom>
          <a:ln w="28575">
            <a:solidFill>
              <a:srgbClr val="8A93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 flipV="1">
            <a:off x="10515600" y="2011680"/>
            <a:ext cx="731520" cy="1554480"/>
          </a:xfrm>
          <a:prstGeom prst="line">
            <a:avLst/>
          </a:prstGeom>
          <a:ln w="50800">
            <a:solidFill>
              <a:srgbClr val="D645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10241280" y="1737360"/>
            <a:ext cx="548640" cy="548640"/>
          </a:xfrm>
          <a:prstGeom prst="ellipse">
            <a:avLst/>
          </a:prstGeom>
          <a:solidFill>
            <a:srgbClr val="E4572E"/>
          </a:solidFill>
          <a:ln w="25400">
            <a:solidFill>
              <a:srgbClr val="3A4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0</a:t>
            </a:r>
          </a:p>
        </p:txBody>
      </p:sp>
      <p:sp>
        <p:nvSpPr>
          <p:cNvPr id="21" name="Oval 20"/>
          <p:cNvSpPr/>
          <p:nvPr/>
        </p:nvSpPr>
        <p:spPr>
          <a:xfrm>
            <a:off x="9509759" y="3291840"/>
            <a:ext cx="548640" cy="548640"/>
          </a:xfrm>
          <a:prstGeom prst="ellipse">
            <a:avLst/>
          </a:prstGeom>
          <a:solidFill>
            <a:srgbClr val="2E86DE"/>
          </a:solidFill>
          <a:ln w="25400">
            <a:solidFill>
              <a:srgbClr val="3A4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22" name="Oval 21"/>
          <p:cNvSpPr/>
          <p:nvPr/>
        </p:nvSpPr>
        <p:spPr>
          <a:xfrm>
            <a:off x="10972800" y="3291840"/>
            <a:ext cx="548640" cy="548640"/>
          </a:xfrm>
          <a:prstGeom prst="ellipse">
            <a:avLst/>
          </a:prstGeom>
          <a:solidFill>
            <a:srgbClr val="E4572E"/>
          </a:solidFill>
          <a:ln w="25400">
            <a:solidFill>
              <a:srgbClr val="3A4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3977639"/>
            <a:ext cx="25603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D64545"/>
                </a:solidFill>
                <a:latin typeface="Microsoft YaHei"/>
                <a:ea typeface="Microsoft YaHei"/>
              </a:rPr>
              <a:t>K3（奇环）：必有同色边 ×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75120" y="4572000"/>
            <a:ext cx="5120640" cy="1783080"/>
          </a:xfrm>
          <a:prstGeom prst="roundRect">
            <a:avLst>
              <a:gd name="adj" fmla="val 6153"/>
            </a:avLst>
          </a:prstGeom>
          <a:solidFill>
            <a:srgbClr val="EEF2FA"/>
          </a:solidFill>
          <a:ln w="15875">
            <a:solidFill>
              <a:srgbClr val="D5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500" b="1">
                <a:solidFill>
                  <a:srgbClr val="1F2A44"/>
                </a:solidFill>
                <a:latin typeface="Microsoft YaHei"/>
                <a:ea typeface="Microsoft YaHei"/>
              </a:rPr>
              <a:t>网格图为什么一定是二分图？</a:t>
            </a:r>
          </a:p>
          <a:p>
            <a:pPr algn="l"/>
            <a:r>
              <a:rPr sz="1400" b="0">
                <a:solidFill>
                  <a:srgbClr val="2B3245"/>
                </a:solidFill>
                <a:latin typeface="Microsoft YaHei"/>
                <a:ea typeface="Microsoft YaHei"/>
              </a:rPr>
              <a:t>颜色 = (行号 + 列号) mod 2。每条边连接相邻两格，行+列之和相差 1，奇偶必不同。</a:t>
            </a:r>
          </a:p>
          <a:p>
            <a:pPr algn="l"/>
            <a:r>
              <a:rPr sz="1400" b="0">
                <a:solidFill>
                  <a:srgbClr val="2B3245"/>
                </a:solidFill>
                <a:latin typeface="Microsoft YaHei"/>
                <a:ea typeface="Microsoft YaHei"/>
              </a:rPr>
              <a:t>奇环：绕一圈颜色逐边交替，奇数条边后回到起点却颜色相反 → 矛盾。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A5BD"/>
                </a:solidFill>
                <a:latin typeface="Microsoft YaHei"/>
                <a:ea typeface="Microsoft YaHei"/>
              </a:rPr>
              <a:t>图三染色 · Basic 展示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0" y="6473952"/>
            <a:ext cx="10058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AA5BD"/>
                </a:solidFill>
                <a:latin typeface="Microsoft YaHei"/>
                <a:ea typeface="Microsoft YaHei"/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84048"/>
            <a:ext cx="128016" cy="566928"/>
          </a:xfrm>
          <a:prstGeom prst="rect">
            <a:avLst/>
          </a:prstGeom>
          <a:solidFill>
            <a:srgbClr val="2E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92608"/>
            <a:ext cx="1133856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2A44"/>
                </a:solidFill>
                <a:latin typeface="Microsoft YaHei"/>
                <a:ea typeface="Microsoft YaHei"/>
              </a:rPr>
              <a:t>任务二：朴素回溯三染色——规则完全钉死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78408"/>
            <a:ext cx="1124712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B7280"/>
                </a:solidFill>
                <a:latin typeface="Microsoft YaHei"/>
                <a:ea typeface="Microsoft YaHei"/>
              </a:rPr>
              <a:t>固定顺序、固定颜色顺序、只和已染色邻居比较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5212080" cy="3840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56032" indent="-256032">
              <a:spcAft>
                <a:spcPts val="1200"/>
              </a:spcAft>
              <a:buFont typeface="Arial"/>
              <a:buChar char="•"/>
            </a:pPr>
            <a:r>
              <a:rPr sz="2000" b="0">
                <a:solidFill>
                  <a:srgbClr val="2B3245"/>
                </a:solidFill>
                <a:latin typeface="Microsoft YaHei"/>
                <a:ea typeface="Microsoft YaHei"/>
              </a:rPr>
              <a:t>顶点按 0, 1, …, n−1 固定顺序染色</a:t>
            </a:r>
          </a:p>
          <a:p>
            <a:pPr algn="l" marL="256032" indent="-256032">
              <a:spcAft>
                <a:spcPts val="1200"/>
              </a:spcAft>
              <a:buFont typeface="Arial"/>
              <a:buChar char="•"/>
            </a:pPr>
            <a:r>
              <a:rPr sz="2000" b="0">
                <a:solidFill>
                  <a:srgbClr val="2B3245"/>
                </a:solidFill>
                <a:latin typeface="Microsoft YaHei"/>
                <a:ea typeface="Microsoft YaHei"/>
              </a:rPr>
              <a:t>每个顶点依次尝试颜色 0, 1, 2</a:t>
            </a:r>
          </a:p>
          <a:p>
            <a:pPr algn="l" marL="256032" indent="-256032">
              <a:spcAft>
                <a:spcPts val="1200"/>
              </a:spcAft>
              <a:buFont typeface="Arial"/>
              <a:buChar char="•"/>
            </a:pPr>
            <a:r>
              <a:rPr sz="2000" b="0">
                <a:solidFill>
                  <a:srgbClr val="2B3245"/>
                </a:solidFill>
                <a:latin typeface="Microsoft YaHei"/>
                <a:ea typeface="Microsoft YaHei"/>
              </a:rPr>
              <a:t>只与已染色邻居判冲突，不向前看</a:t>
            </a:r>
          </a:p>
          <a:p>
            <a:pPr algn="l" marL="256032" indent="-256032">
              <a:spcAft>
                <a:spcPts val="1200"/>
              </a:spcAft>
              <a:buFont typeface="Arial"/>
              <a:buChar char="•"/>
            </a:pPr>
            <a:r>
              <a:rPr sz="2000" b="0">
                <a:solidFill>
                  <a:srgbClr val="2B3245"/>
                </a:solidFill>
                <a:latin typeface="Microsoft YaHei"/>
                <a:ea typeface="Microsoft YaHei"/>
              </a:rPr>
              <a:t>冲突就换色；三色都不行 → 回溯到上一个顶点</a:t>
            </a:r>
          </a:p>
          <a:p>
            <a:pPr algn="l" marL="256032" indent="-256032">
              <a:spcAft>
                <a:spcPts val="1200"/>
              </a:spcAft>
              <a:buFont typeface="Arial"/>
              <a:buChar char="•"/>
            </a:pPr>
            <a:r>
              <a:rPr sz="2000" b="0">
                <a:solidFill>
                  <a:srgbClr val="2B3245"/>
                </a:solidFill>
                <a:latin typeface="Microsoft YaHei"/>
                <a:ea typeface="Microsoft YaHei"/>
              </a:rPr>
              <a:t>第一个完整方案立即返回</a:t>
            </a:r>
          </a:p>
          <a:p>
            <a:pPr algn="l" marL="256032" indent="-256032">
              <a:spcAft>
                <a:spcPts val="600"/>
              </a:spcAft>
              <a:buFont typeface="Arial"/>
              <a:buChar char="•"/>
            </a:pPr>
            <a:r>
              <a:rPr sz="2000" b="0">
                <a:solidFill>
                  <a:srgbClr val="2B3245"/>
                </a:solidFill>
                <a:latin typeface="Microsoft YaHei"/>
                <a:ea typeface="Microsoft YaHei"/>
              </a:rPr>
              <a:t>NODES = 进入 dfs 的次数（dfs(0) 与 v==n 的成功调用都计）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1600200"/>
            <a:ext cx="5760720" cy="3611880"/>
          </a:xfrm>
          <a:prstGeom prst="roundRect">
            <a:avLst>
              <a:gd name="adj" fmla="val 1518"/>
            </a:avLst>
          </a:prstGeom>
          <a:solidFill>
            <a:srgbClr val="F4F6FA"/>
          </a:solidFill>
          <a:ln w="15875">
            <a:solidFill>
              <a:srgbClr val="D5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600" b="0">
                <a:solidFill>
                  <a:srgbClr val="2B3245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1645920"/>
            <a:ext cx="557784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300" b="0">
                <a:solidFill>
                  <a:srgbClr val="2B3245"/>
                </a:solidFill>
                <a:latin typeface="Consolas"/>
                <a:ea typeface="Consolas"/>
              </a:rPr>
              <a:t>three_color_backtrack(n, adj, stats):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2B3245"/>
                </a:solidFill>
                <a:latin typeface="Consolas"/>
                <a:ea typeface="Consolas"/>
              </a:rPr>
              <a:t>  若存在自环 v ∈ adj[v]: return None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2B3245"/>
                </a:solidFill>
                <a:latin typeface="Consolas"/>
                <a:ea typeface="Consolas"/>
              </a:rPr>
              <a:t>  coloring ← [UNCOLORED] × n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2B3245"/>
                </a:solidFill>
                <a:latin typeface="Consolas"/>
                <a:ea typeface="Consolas"/>
              </a:rPr>
              <a:t/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2B3245"/>
                </a:solidFill>
                <a:latin typeface="Consolas"/>
                <a:ea typeface="Consolas"/>
              </a:rPr>
              <a:t>  dfs(v):                       # 给顶点 v 染色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2B3245"/>
                </a:solidFill>
                <a:latin typeface="Consolas"/>
                <a:ea typeface="Consolas"/>
              </a:rPr>
              <a:t>      stats.nodes += 1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2B3245"/>
                </a:solidFill>
                <a:latin typeface="Consolas"/>
                <a:ea typeface="Consolas"/>
              </a:rPr>
              <a:t>      if v == n: return 成功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2B3245"/>
                </a:solidFill>
                <a:latin typeface="Consolas"/>
                <a:ea typeface="Consolas"/>
              </a:rPr>
              <a:t>      for c in 0, 1, 2: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2B3245"/>
                </a:solidFill>
                <a:latin typeface="Consolas"/>
                <a:ea typeface="Consolas"/>
              </a:rPr>
              <a:t>          if ∃ 已染色邻居 u: coloring[u] == c: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2B3245"/>
                </a:solidFill>
                <a:latin typeface="Consolas"/>
                <a:ea typeface="Consolas"/>
              </a:rPr>
              <a:t>              continue          # 冲突，换色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2B3245"/>
                </a:solidFill>
                <a:latin typeface="Consolas"/>
                <a:ea typeface="Consolas"/>
              </a:rPr>
              <a:t>          coloring[v] ← c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2B3245"/>
                </a:solidFill>
                <a:latin typeface="Consolas"/>
                <a:ea typeface="Consolas"/>
              </a:rPr>
              <a:t>          if dfs(v + 1): return 成功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2B3245"/>
                </a:solidFill>
                <a:latin typeface="Consolas"/>
                <a:ea typeface="Consolas"/>
              </a:rPr>
              <a:t>          coloring[v] ← UNCOLORED   # 撤销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2B3245"/>
                </a:solidFill>
                <a:latin typeface="Consolas"/>
                <a:ea typeface="Consolas"/>
              </a:rPr>
              <a:t>      return 失败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2B3245"/>
                </a:solidFill>
                <a:latin typeface="Consolas"/>
                <a:ea typeface="Consolas"/>
              </a:rPr>
              <a:t/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2B3245"/>
                </a:solidFill>
                <a:latin typeface="Consolas"/>
                <a:ea typeface="Consolas"/>
              </a:rPr>
              <a:t>  return coloring if dfs(0) else None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5349240"/>
            <a:ext cx="5760720" cy="914400"/>
          </a:xfrm>
          <a:prstGeom prst="roundRect">
            <a:avLst>
              <a:gd name="adj" fmla="val 12000"/>
            </a:avLst>
          </a:prstGeom>
          <a:solidFill>
            <a:srgbClr val="FDF0F0"/>
          </a:solidFill>
          <a:ln w="15875">
            <a:solidFill>
              <a:srgbClr val="F0C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400" b="1">
                <a:solidFill>
                  <a:srgbClr val="D64545"/>
                </a:solidFill>
                <a:latin typeface="Microsoft YaHei"/>
                <a:ea typeface="Microsoft YaHei"/>
              </a:rPr>
              <a:t>撤销时恢复什么？</a:t>
            </a:r>
            <a:r>
              <a:rPr sz="1400" b="0">
                <a:solidFill>
                  <a:srgbClr val="2B3245"/>
                </a:solidFill>
                <a:latin typeface="Microsoft YaHei"/>
                <a:ea typeface="Microsoft YaHei"/>
              </a:rPr>
              <a:t>coloring[v] ← UNCOLORED。忘记撤销是经典 bug：残留颜色会污染之后所有分支；nodes 是统计量，不回滚。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A5BD"/>
                </a:solidFill>
                <a:latin typeface="Microsoft YaHei"/>
                <a:ea typeface="Microsoft YaHei"/>
              </a:rPr>
              <a:t>图三染色 · Basic 展示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73952"/>
            <a:ext cx="10058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AA5BD"/>
                </a:solidFill>
                <a:latin typeface="Microsoft YaHei"/>
                <a:ea typeface="Microsoft YaHei"/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84048"/>
            <a:ext cx="128016" cy="566928"/>
          </a:xfrm>
          <a:prstGeom prst="rect">
            <a:avLst/>
          </a:prstGeom>
          <a:solidFill>
            <a:srgbClr val="2E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92608"/>
            <a:ext cx="1133856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2A44"/>
                </a:solidFill>
                <a:latin typeface="Microsoft YaHei"/>
                <a:ea typeface="Microsoft YaHei"/>
              </a:rPr>
              <a:t>回溯树（一）：三角形——有解只需一条路径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78408"/>
            <a:ext cx="1124712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B7280"/>
                </a:solidFill>
                <a:latin typeface="Microsoft YaHei"/>
                <a:ea typeface="Microsoft YaHei"/>
              </a:rPr>
              <a:t>dfs(v) = 给顶点 v 染色；× = 与已染色邻居冲突，直接跳过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331720"/>
            <a:ext cx="1828800" cy="731520"/>
          </a:xfrm>
          <a:prstGeom prst="roundRect">
            <a:avLst>
              <a:gd name="adj" fmla="val 15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900" b="1">
                <a:solidFill>
                  <a:srgbClr val="FFFFFF"/>
                </a:solidFill>
                <a:latin typeface="Microsoft YaHei"/>
                <a:ea typeface="Microsoft YaHei"/>
              </a:rPr>
              <a:t>dfs(0)  #1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2331720"/>
            <a:ext cx="1828800" cy="731520"/>
          </a:xfrm>
          <a:prstGeom prst="roundRect">
            <a:avLst>
              <a:gd name="adj" fmla="val 15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900" b="1">
                <a:solidFill>
                  <a:srgbClr val="FFFFFF"/>
                </a:solidFill>
                <a:latin typeface="Microsoft YaHei"/>
                <a:ea typeface="Microsoft YaHei"/>
              </a:rPr>
              <a:t>dfs(1)  #2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0" y="2331720"/>
            <a:ext cx="1828800" cy="731520"/>
          </a:xfrm>
          <a:prstGeom prst="roundRect">
            <a:avLst>
              <a:gd name="adj" fmla="val 15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900" b="1">
                <a:solidFill>
                  <a:srgbClr val="FFFFFF"/>
                </a:solidFill>
                <a:latin typeface="Microsoft YaHei"/>
                <a:ea typeface="Microsoft YaHei"/>
              </a:rPr>
              <a:t>dfs(2)  #3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03920" y="2331720"/>
            <a:ext cx="1828800" cy="731520"/>
          </a:xfrm>
          <a:prstGeom prst="roundRect">
            <a:avLst>
              <a:gd name="adj" fmla="val 15000"/>
            </a:avLst>
          </a:prstGeom>
          <a:solidFill>
            <a:srgbClr val="2BA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900" b="1">
                <a:solidFill>
                  <a:srgbClr val="FFFFFF"/>
                </a:solidFill>
                <a:latin typeface="Microsoft YaHei"/>
                <a:ea typeface="Microsoft YaHei"/>
              </a:rPr>
              <a:t>dfs(3)  #4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377440" y="2697479"/>
            <a:ext cx="822960" cy="0"/>
          </a:xfrm>
          <a:prstGeom prst="line">
            <a:avLst/>
          </a:prstGeom>
          <a:ln w="31750">
            <a:solidFill>
              <a:srgbClr val="3A466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377440" y="2313432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2E6FDE"/>
                </a:solidFill>
                <a:latin typeface="Microsoft YaHei"/>
                <a:ea typeface="Microsoft YaHei"/>
              </a:rPr>
              <a:t>v0 = 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029200" y="2697479"/>
            <a:ext cx="822960" cy="0"/>
          </a:xfrm>
          <a:prstGeom prst="line">
            <a:avLst/>
          </a:prstGeom>
          <a:ln w="31750">
            <a:solidFill>
              <a:srgbClr val="3A466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029200" y="2313432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2E6FDE"/>
                </a:solidFill>
                <a:latin typeface="Microsoft YaHei"/>
                <a:ea typeface="Microsoft YaHei"/>
              </a:rPr>
              <a:t>v1 = 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680960" y="2697479"/>
            <a:ext cx="822960" cy="0"/>
          </a:xfrm>
          <a:prstGeom prst="line">
            <a:avLst/>
          </a:prstGeom>
          <a:ln w="31750">
            <a:solidFill>
              <a:srgbClr val="3A466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680960" y="2313432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2E6FDE"/>
                </a:solidFill>
                <a:latin typeface="Microsoft YaHei"/>
                <a:ea typeface="Microsoft YaHei"/>
              </a:rPr>
              <a:t>v2 = 2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114800" y="3063239"/>
            <a:ext cx="0" cy="502921"/>
          </a:xfrm>
          <a:prstGeom prst="line">
            <a:avLst/>
          </a:prstGeom>
          <a:ln w="22225">
            <a:solidFill>
              <a:srgbClr val="E3A3A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017520" y="3566160"/>
            <a:ext cx="2194560" cy="457200"/>
          </a:xfrm>
          <a:prstGeom prst="roundRect">
            <a:avLst>
              <a:gd name="adj" fmla="val 24000"/>
            </a:avLst>
          </a:prstGeom>
          <a:solidFill>
            <a:srgbClr val="FDF0F0"/>
          </a:solidFill>
          <a:ln w="15875">
            <a:solidFill>
              <a:srgbClr val="F0C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0">
                <a:solidFill>
                  <a:srgbClr val="D64545"/>
                </a:solidFill>
                <a:latin typeface="Microsoft YaHei"/>
                <a:ea typeface="Microsoft YaHei"/>
              </a:rPr>
              <a:t>v1 = 0 ×  与 v0 同色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766560" y="3063239"/>
            <a:ext cx="0" cy="502921"/>
          </a:xfrm>
          <a:prstGeom prst="line">
            <a:avLst/>
          </a:prstGeom>
          <a:ln w="22225">
            <a:solidFill>
              <a:srgbClr val="E3A3A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669280" y="3566160"/>
            <a:ext cx="2194560" cy="868680"/>
          </a:xfrm>
          <a:prstGeom prst="roundRect">
            <a:avLst>
              <a:gd name="adj" fmla="val 12631"/>
            </a:avLst>
          </a:prstGeom>
          <a:solidFill>
            <a:srgbClr val="FDF0F0"/>
          </a:solidFill>
          <a:ln w="15875">
            <a:solidFill>
              <a:srgbClr val="F0C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0">
                <a:solidFill>
                  <a:srgbClr val="D64545"/>
                </a:solidFill>
                <a:latin typeface="Microsoft YaHei"/>
                <a:ea typeface="Microsoft YaHei"/>
              </a:rPr>
              <a:t>v2 = 0 ×  与 v0 同色</a:t>
            </a:r>
          </a:p>
          <a:p>
            <a:pPr algn="ctr"/>
            <a:r>
              <a:rPr sz="1400" b="0">
                <a:solidFill>
                  <a:srgbClr val="D64545"/>
                </a:solidFill>
                <a:latin typeface="Microsoft YaHei"/>
                <a:ea typeface="Microsoft YaHei"/>
              </a:rPr>
              <a:t>v2 = 1 ×  与 v1 同色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160020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Microsoft YaHei"/>
                <a:ea typeface="Microsoft YaHei"/>
              </a:rPr>
              <a:t>v0 = 1、v0 = 2 从未尝试：第一个完整方案出现即停止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892040"/>
            <a:ext cx="7680960" cy="1371600"/>
          </a:xfrm>
          <a:prstGeom prst="roundRect">
            <a:avLst>
              <a:gd name="adj" fmla="val 8000"/>
            </a:avLst>
          </a:prstGeom>
          <a:solidFill>
            <a:srgbClr val="EEF8F0"/>
          </a:solidFill>
          <a:ln w="15875">
            <a:solidFill>
              <a:srgbClr val="BFE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2000" b="1">
                <a:solidFill>
                  <a:srgbClr val="2BA84A"/>
                </a:solidFill>
                <a:latin typeface="Microsoft YaHei"/>
                <a:ea typeface="Microsoft YaHei"/>
              </a:rPr>
              <a:t>结果：[0, 1, 2]，NODES = 4，没有回溯</a:t>
            </a:r>
          </a:p>
          <a:p>
            <a:pPr algn="l"/>
            <a:r>
              <a:rPr sz="1600" b="0">
                <a:solidFill>
                  <a:srgbClr val="2B3245"/>
                </a:solidFill>
                <a:latin typeface="Microsoft YaHei"/>
                <a:ea typeface="Microsoft YaHei"/>
              </a:rPr>
              <a:t>“有解”的证据 = 一个合法染色，逐边检查即可验证：O(n+m)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692640" y="5166360"/>
            <a:ext cx="1463040" cy="0"/>
          </a:xfrm>
          <a:prstGeom prst="line">
            <a:avLst/>
          </a:prstGeom>
          <a:ln w="28575">
            <a:solidFill>
              <a:srgbClr val="8A93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10424160" y="5166360"/>
            <a:ext cx="731520" cy="868680"/>
          </a:xfrm>
          <a:prstGeom prst="line">
            <a:avLst/>
          </a:prstGeom>
          <a:ln w="28575">
            <a:solidFill>
              <a:srgbClr val="8A93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9692640" y="5166360"/>
            <a:ext cx="731520" cy="868680"/>
          </a:xfrm>
          <a:prstGeom prst="line">
            <a:avLst/>
          </a:prstGeom>
          <a:ln w="28575">
            <a:solidFill>
              <a:srgbClr val="8A93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9418319" y="4892040"/>
            <a:ext cx="548640" cy="548640"/>
          </a:xfrm>
          <a:prstGeom prst="ellipse">
            <a:avLst/>
          </a:prstGeom>
          <a:solidFill>
            <a:srgbClr val="E4572E"/>
          </a:solidFill>
          <a:ln w="25400">
            <a:solidFill>
              <a:srgbClr val="3A4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0</a:t>
            </a:r>
          </a:p>
        </p:txBody>
      </p:sp>
      <p:sp>
        <p:nvSpPr>
          <p:cNvPr id="25" name="Oval 24"/>
          <p:cNvSpPr/>
          <p:nvPr/>
        </p:nvSpPr>
        <p:spPr>
          <a:xfrm>
            <a:off x="10881359" y="4892040"/>
            <a:ext cx="548640" cy="548640"/>
          </a:xfrm>
          <a:prstGeom prst="ellipse">
            <a:avLst/>
          </a:prstGeom>
          <a:solidFill>
            <a:srgbClr val="2E86DE"/>
          </a:solidFill>
          <a:ln w="25400">
            <a:solidFill>
              <a:srgbClr val="3A4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26" name="Oval 25"/>
          <p:cNvSpPr/>
          <p:nvPr/>
        </p:nvSpPr>
        <p:spPr>
          <a:xfrm>
            <a:off x="10149840" y="5760720"/>
            <a:ext cx="548640" cy="548640"/>
          </a:xfrm>
          <a:prstGeom prst="ellipse">
            <a:avLst/>
          </a:prstGeom>
          <a:solidFill>
            <a:srgbClr val="F5B700"/>
          </a:solidFill>
          <a:ln w="25400">
            <a:solidFill>
              <a:srgbClr val="3A4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600" b="1">
                <a:solidFill>
                  <a:srgbClr val="2B3245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A5BD"/>
                </a:solidFill>
                <a:latin typeface="Microsoft YaHei"/>
                <a:ea typeface="Microsoft YaHei"/>
              </a:rPr>
              <a:t>图三染色 · Basic 展示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473952"/>
            <a:ext cx="10058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AA5BD"/>
                </a:solidFill>
                <a:latin typeface="Microsoft YaHei"/>
                <a:ea typeface="Microsoft YaHei"/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84048"/>
            <a:ext cx="128016" cy="566928"/>
          </a:xfrm>
          <a:prstGeom prst="rect">
            <a:avLst/>
          </a:prstGeom>
          <a:solidFill>
            <a:srgbClr val="2E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92608"/>
            <a:ext cx="1133856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2A44"/>
                </a:solidFill>
                <a:latin typeface="Microsoft YaHei"/>
                <a:ea typeface="Microsoft YaHei"/>
              </a:rPr>
              <a:t>回溯树（二）：K4——无解必须覆盖全部分支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78408"/>
            <a:ext cx="1124712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B7280"/>
                </a:solidFill>
                <a:latin typeface="Microsoft YaHei"/>
                <a:ea typeface="Microsoft YaHei"/>
              </a:rPr>
              <a:t>只画 v0 = 0 的子树；一共 1 + 3 × 5 = 16 个节点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063240"/>
            <a:ext cx="1463040" cy="594360"/>
          </a:xfrm>
          <a:prstGeom prst="roundRect">
            <a:avLst>
              <a:gd name="adj" fmla="val 18461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dfs(0) #1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3063240"/>
            <a:ext cx="1463040" cy="594360"/>
          </a:xfrm>
          <a:prstGeom prst="roundRect">
            <a:avLst>
              <a:gd name="adj" fmla="val 18461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dfs(1) #2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920240" y="3355848"/>
            <a:ext cx="822960" cy="0"/>
          </a:xfrm>
          <a:prstGeom prst="line">
            <a:avLst/>
          </a:prstGeom>
          <a:ln w="31750">
            <a:solidFill>
              <a:srgbClr val="3A466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828800" y="2971800"/>
            <a:ext cx="10058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2E6FDE"/>
                </a:solidFill>
                <a:latin typeface="Microsoft YaHei"/>
                <a:ea typeface="Microsoft YaHei"/>
              </a:rPr>
              <a:t>v0=0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188720" y="3657600"/>
            <a:ext cx="0" cy="1005840"/>
          </a:xfrm>
          <a:prstGeom prst="line">
            <a:avLst/>
          </a:prstGeom>
          <a:ln w="19050">
            <a:solidFill>
              <a:srgbClr val="9AA5BD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188720" y="3657600"/>
            <a:ext cx="0" cy="1783079"/>
          </a:xfrm>
          <a:prstGeom prst="line">
            <a:avLst/>
          </a:prstGeom>
          <a:ln w="19050">
            <a:solidFill>
              <a:srgbClr val="9AA5BD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57200" y="4663440"/>
            <a:ext cx="3291840" cy="594360"/>
          </a:xfrm>
          <a:prstGeom prst="roundRect">
            <a:avLst>
              <a:gd name="adj" fmla="val 18461"/>
            </a:avLst>
          </a:prstGeom>
          <a:solidFill>
            <a:srgbClr val="F4F6FA"/>
          </a:solidFill>
          <a:ln w="15875">
            <a:solidFill>
              <a:srgbClr val="D5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0">
                <a:solidFill>
                  <a:srgbClr val="6B7280"/>
                </a:solidFill>
                <a:latin typeface="Microsoft YaHei"/>
                <a:ea typeface="Microsoft YaHei"/>
              </a:rPr>
              <a:t>v0=1：对称子树，5 个节点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440679"/>
            <a:ext cx="3291840" cy="594360"/>
          </a:xfrm>
          <a:prstGeom prst="roundRect">
            <a:avLst>
              <a:gd name="adj" fmla="val 18461"/>
            </a:avLst>
          </a:prstGeom>
          <a:solidFill>
            <a:srgbClr val="F4F6FA"/>
          </a:solidFill>
          <a:ln w="15875">
            <a:solidFill>
              <a:srgbClr val="D5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0">
                <a:solidFill>
                  <a:srgbClr val="6B7280"/>
                </a:solidFill>
                <a:latin typeface="Microsoft YaHei"/>
                <a:ea typeface="Microsoft YaHei"/>
              </a:rPr>
              <a:t>v0=2：对称子树，5 个节点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37760" y="1600200"/>
            <a:ext cx="1463040" cy="594360"/>
          </a:xfrm>
          <a:prstGeom prst="roundRect">
            <a:avLst>
              <a:gd name="adj" fmla="val 18461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dfs(2) #3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4206240" y="2011680"/>
            <a:ext cx="731520" cy="1188720"/>
          </a:xfrm>
          <a:prstGeom prst="line">
            <a:avLst/>
          </a:prstGeom>
          <a:ln w="27940">
            <a:solidFill>
              <a:srgbClr val="3A466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977639" y="242316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E6FDE"/>
                </a:solidFill>
                <a:latin typeface="Microsoft YaHei"/>
                <a:ea typeface="Microsoft YaHei"/>
              </a:rPr>
              <a:t>v1=1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2240280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D64545"/>
                </a:solidFill>
                <a:latin typeface="Microsoft YaHei"/>
                <a:ea typeface="Microsoft YaHei"/>
              </a:rPr>
              <a:t>v2=0 ×   v2=1 ×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1600200"/>
            <a:ext cx="1463040" cy="594360"/>
          </a:xfrm>
          <a:prstGeom prst="roundRect">
            <a:avLst>
              <a:gd name="adj" fmla="val 18461"/>
            </a:avLst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dfs(3) #4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400800" y="1892807"/>
            <a:ext cx="1097279" cy="0"/>
          </a:xfrm>
          <a:prstGeom prst="line">
            <a:avLst/>
          </a:prstGeom>
          <a:ln w="27940">
            <a:solidFill>
              <a:srgbClr val="3A466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400800" y="155448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2E6FDE"/>
                </a:solidFill>
                <a:latin typeface="Microsoft YaHei"/>
                <a:ea typeface="Microsoft YaHei"/>
              </a:rPr>
              <a:t>v2=2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2240280"/>
            <a:ext cx="20116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D64545"/>
                </a:solidFill>
                <a:latin typeface="Microsoft YaHei"/>
                <a:ea typeface="Microsoft YaHei"/>
              </a:rPr>
              <a:t>v3=0,1,2 全 ×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37760" y="3063240"/>
            <a:ext cx="2194560" cy="594360"/>
          </a:xfrm>
          <a:prstGeom prst="roundRect">
            <a:avLst>
              <a:gd name="adj" fmla="val 18461"/>
            </a:avLst>
          </a:prstGeom>
          <a:solidFill>
            <a:srgbClr val="FDF0F0"/>
          </a:solidFill>
          <a:ln w="15875">
            <a:solidFill>
              <a:srgbClr val="F0C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0">
                <a:solidFill>
                  <a:srgbClr val="D64545"/>
                </a:solidFill>
                <a:latin typeface="Microsoft YaHei"/>
                <a:ea typeface="Microsoft YaHei"/>
              </a:rPr>
              <a:t>v1 = 0 ×  与 v0 同色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206240" y="3355848"/>
            <a:ext cx="731520" cy="0"/>
          </a:xfrm>
          <a:prstGeom prst="line">
            <a:avLst/>
          </a:prstGeom>
          <a:ln w="19050">
            <a:solidFill>
              <a:srgbClr val="E3A3A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937760" y="4526280"/>
            <a:ext cx="1463040" cy="594360"/>
          </a:xfrm>
          <a:prstGeom prst="roundRect">
            <a:avLst>
              <a:gd name="adj" fmla="val 18461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dfs(2) #5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206240" y="3520440"/>
            <a:ext cx="731520" cy="1280160"/>
          </a:xfrm>
          <a:prstGeom prst="line">
            <a:avLst/>
          </a:prstGeom>
          <a:ln w="27940">
            <a:solidFill>
              <a:srgbClr val="3A466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977639" y="411480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E6FDE"/>
                </a:solidFill>
                <a:latin typeface="Microsoft YaHei"/>
                <a:ea typeface="Microsoft YaHei"/>
              </a:rPr>
              <a:t>v1=2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5166360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D64545"/>
                </a:solidFill>
                <a:latin typeface="Microsoft YaHei"/>
                <a:ea typeface="Microsoft YaHei"/>
              </a:rPr>
              <a:t>v2=0 ×   v2=2 ×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98079" y="4526280"/>
            <a:ext cx="1463040" cy="594360"/>
          </a:xfrm>
          <a:prstGeom prst="roundRect">
            <a:avLst>
              <a:gd name="adj" fmla="val 18461"/>
            </a:avLst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dfs(3) #6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400800" y="4818888"/>
            <a:ext cx="1097279" cy="0"/>
          </a:xfrm>
          <a:prstGeom prst="line">
            <a:avLst/>
          </a:prstGeom>
          <a:ln w="27940">
            <a:solidFill>
              <a:srgbClr val="3A466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400800" y="448056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2E6FDE"/>
                </a:solidFill>
                <a:latin typeface="Microsoft YaHei"/>
                <a:ea typeface="Microsoft YaHei"/>
              </a:rPr>
              <a:t>v2=1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5166360"/>
            <a:ext cx="20116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D64545"/>
                </a:solidFill>
                <a:latin typeface="Microsoft YaHei"/>
                <a:ea typeface="Microsoft YaHei"/>
              </a:rPr>
              <a:t>v3=0,1,2 全 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0" y="5577840"/>
            <a:ext cx="42062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</a:rPr>
              <a:t>红色节点：三种颜色全部冲突 = 死路，回溯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372600" y="1600200"/>
            <a:ext cx="2514600" cy="4480560"/>
          </a:xfrm>
          <a:prstGeom prst="roundRect">
            <a:avLst>
              <a:gd name="adj" fmla="val 4363"/>
            </a:avLst>
          </a:prstGeom>
          <a:solidFill>
            <a:srgbClr val="EEF2FA"/>
          </a:solidFill>
          <a:ln w="15875">
            <a:solidFill>
              <a:srgbClr val="D5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900" b="1">
                <a:solidFill>
                  <a:srgbClr val="1F2A44"/>
                </a:solidFill>
                <a:latin typeface="Microsoft YaHei"/>
                <a:ea typeface="Microsoft YaHei"/>
              </a:rPr>
              <a:t>无解的证据</a:t>
            </a:r>
          </a:p>
          <a:p>
            <a:pPr algn="l"/>
            <a:r>
              <a:rPr sz="1500" b="0">
                <a:solidFill>
                  <a:srgbClr val="2B3245"/>
                </a:solidFill>
                <a:latin typeface="Microsoft YaHei"/>
                <a:ea typeface="Microsoft YaHei"/>
              </a:rPr>
              <a:t>必须覆盖或正确排除所有分支</a:t>
            </a:r>
          </a:p>
          <a:p>
            <a:pPr algn="l"/>
            <a:r>
              <a:rPr sz="600" b="0">
                <a:solidFill>
                  <a:srgbClr val="2B3245"/>
                </a:solidFill>
                <a:latin typeface="Microsoft YaHei"/>
                <a:ea typeface="Microsoft YaHei"/>
              </a:rPr>
              <a:t> </a:t>
            </a:r>
          </a:p>
          <a:p>
            <a:pPr algn="l"/>
            <a:r>
              <a:rPr sz="1500" b="0">
                <a:solidFill>
                  <a:srgbClr val="2B3245"/>
                </a:solidFill>
                <a:latin typeface="Microsoft YaHei"/>
                <a:ea typeface="Microsoft YaHei"/>
              </a:rPr>
              <a:t>共 16 个节点</a:t>
            </a:r>
          </a:p>
          <a:p>
            <a:pPr algn="l"/>
            <a:r>
              <a:rPr sz="1500" b="0">
                <a:solidFill>
                  <a:srgbClr val="2B3245"/>
                </a:solidFill>
                <a:latin typeface="Microsoft YaHei"/>
                <a:ea typeface="Microsoft YaHei"/>
              </a:rPr>
              <a:t>= 1 + 3 × 5</a:t>
            </a:r>
          </a:p>
          <a:p>
            <a:pPr algn="l"/>
            <a:r>
              <a:rPr sz="600" b="0">
                <a:solidFill>
                  <a:srgbClr val="2B3245"/>
                </a:solidFill>
                <a:latin typeface="Microsoft YaHei"/>
                <a:ea typeface="Microsoft YaHei"/>
              </a:rPr>
              <a:t> </a:t>
            </a:r>
          </a:p>
          <a:p>
            <a:pPr algn="l"/>
            <a:r>
              <a:rPr sz="1500" b="0">
                <a:solidFill>
                  <a:srgbClr val="2B3245"/>
                </a:solidFill>
                <a:latin typeface="Microsoft YaHei"/>
                <a:ea typeface="Microsoft YaHei"/>
              </a:rPr>
              <a:t>算法没有利用对称性：v0=1、v0=2 的子树要重新搜完</a:t>
            </a:r>
          </a:p>
          <a:p>
            <a:pPr algn="l"/>
            <a:r>
              <a:rPr sz="600" b="0">
                <a:solidFill>
                  <a:srgbClr val="2B3245"/>
                </a:solidFill>
                <a:latin typeface="Microsoft YaHei"/>
                <a:ea typeface="Microsoft YaHei"/>
              </a:rPr>
              <a:t> </a:t>
            </a:r>
          </a:p>
          <a:p>
            <a:pPr algn="l"/>
            <a:r>
              <a:rPr sz="1500" b="1">
                <a:solidFill>
                  <a:srgbClr val="D64545"/>
                </a:solidFill>
                <a:latin typeface="Microsoft YaHei"/>
                <a:ea typeface="Microsoft YaHei"/>
              </a:rPr>
              <a:t>提前 return 无解是错误的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A5BD"/>
                </a:solidFill>
                <a:latin typeface="Microsoft YaHei"/>
                <a:ea typeface="Microsoft YaHei"/>
              </a:rPr>
              <a:t>图三染色 · Basic 展示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89920" y="6473952"/>
            <a:ext cx="10058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AA5BD"/>
                </a:solidFill>
                <a:latin typeface="Microsoft YaHei"/>
                <a:ea typeface="Microsoft YaHei"/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84048"/>
            <a:ext cx="128016" cy="566928"/>
          </a:xfrm>
          <a:prstGeom prst="rect">
            <a:avLst/>
          </a:prstGeom>
          <a:solidFill>
            <a:srgbClr val="2E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92608"/>
            <a:ext cx="1133856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2A44"/>
                </a:solidFill>
                <a:latin typeface="Microsoft YaHei"/>
                <a:ea typeface="Microsoft YaHei"/>
              </a:rPr>
              <a:t>现场演示：solve 与 bench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78408"/>
            <a:ext cx="1124712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B7280"/>
                </a:solidFill>
                <a:latin typeface="Microsoft YaHei"/>
                <a:ea typeface="Microsoft YaHei"/>
              </a:rPr>
              <a:t>同一个求解器，六个经典实例；node 数是对“难度”最直观的度量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4754880" cy="2286000"/>
          </a:xfrm>
          <a:prstGeom prst="roundRect">
            <a:avLst>
              <a:gd name="adj" fmla="val 2400"/>
            </a:avLst>
          </a:prstGeom>
          <a:solidFill>
            <a:srgbClr val="F4F6FA"/>
          </a:solidFill>
          <a:ln w="15875">
            <a:solidFill>
              <a:srgbClr val="D5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600" b="0">
                <a:solidFill>
                  <a:srgbClr val="2B3245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45720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200" b="0">
                <a:solidFill>
                  <a:srgbClr val="2B3245"/>
                </a:solidFill>
                <a:latin typeface="Consolas"/>
                <a:ea typeface="Consolas"/>
              </a:rPr>
              <a:t>python src/main.py solve --data data/triangle.txt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2B3245"/>
                </a:solidFill>
                <a:latin typeface="Consolas"/>
                <a:ea typeface="Consolas"/>
              </a:rPr>
              <a:t/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2B3245"/>
                </a:solidFill>
                <a:latin typeface="Consolas"/>
                <a:ea typeface="Consolas"/>
              </a:rPr>
              <a:t>python src/main.py solve --data data/k4.txt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2B3245"/>
                </a:solidFill>
                <a:latin typeface="Consolas"/>
                <a:ea typeface="Consolas"/>
              </a:rPr>
              <a:t/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2B3245"/>
                </a:solidFill>
                <a:latin typeface="Consolas"/>
                <a:ea typeface="Consolas"/>
              </a:rPr>
              <a:t>python src/main.py solve --data data/grid_4x4.txt --two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2B3245"/>
                </a:solidFill>
                <a:latin typeface="Consolas"/>
                <a:ea typeface="Consolas"/>
              </a:rPr>
              <a:t/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2B3245"/>
                </a:solidFill>
                <a:latin typeface="Consolas"/>
                <a:ea typeface="Consolas"/>
              </a:rPr>
              <a:t>python src/main.py bench --naive-only --degree 4.7 \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2B3245"/>
                </a:solidFill>
                <a:latin typeface="Consolas"/>
                <a:ea typeface="Consolas"/>
              </a:rPr>
              <a:t>       --reps 20 --sizes 10 12 14 16 18 20 22 24 26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069080"/>
            <a:ext cx="4754880" cy="2194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56032" indent="-256032">
              <a:spcAft>
                <a:spcPts val="600"/>
              </a:spcAft>
              <a:buFont typeface="Arial"/>
              <a:buChar char="•"/>
            </a:pPr>
            <a:r>
              <a:rPr sz="1500" b="0">
                <a:solidFill>
                  <a:srgbClr val="2B3245"/>
                </a:solidFill>
                <a:latin typeface="Microsoft YaHei"/>
                <a:ea typeface="Microsoft YaHei"/>
              </a:rPr>
              <a:t>triangle：可三染色，[0,1,2]，NODES = 4</a:t>
            </a:r>
          </a:p>
          <a:p>
            <a:pPr algn="l" marL="256032" indent="-256032">
              <a:spcAft>
                <a:spcPts val="600"/>
              </a:spcAft>
              <a:buFont typeface="Arial"/>
              <a:buChar char="•"/>
            </a:pPr>
            <a:r>
              <a:rPr sz="1500" b="0">
                <a:solidFill>
                  <a:srgbClr val="2B3245"/>
                </a:solidFill>
                <a:latin typeface="Microsoft YaHei"/>
                <a:ea typeface="Microsoft YaHei"/>
              </a:rPr>
              <a:t>k4：不可三染色，NODES = 16</a:t>
            </a:r>
          </a:p>
          <a:p>
            <a:pPr algn="l" marL="256032" indent="-256032">
              <a:spcAft>
                <a:spcPts val="600"/>
              </a:spcAft>
              <a:buFont typeface="Arial"/>
              <a:buChar char="•"/>
            </a:pPr>
            <a:r>
              <a:rPr sz="1500" b="0">
                <a:solidFill>
                  <a:srgbClr val="2B3245"/>
                </a:solidFill>
                <a:latin typeface="Microsoft YaHei"/>
                <a:ea typeface="Microsoft YaHei"/>
              </a:rPr>
              <a:t>grid_4x4：二染色成功（二分图）</a:t>
            </a:r>
          </a:p>
          <a:p>
            <a:pPr algn="l" marL="256032" indent="-256032">
              <a:spcAft>
                <a:spcPts val="600"/>
              </a:spcAft>
              <a:buFont typeface="Arial"/>
              <a:buChar char="•"/>
            </a:pPr>
            <a:r>
              <a:rPr sz="1500" b="0">
                <a:solidFill>
                  <a:srgbClr val="2B3245"/>
                </a:solidFill>
                <a:latin typeface="Microsoft YaHei"/>
                <a:ea typeface="Microsoft YaHei"/>
              </a:rPr>
              <a:t>bench：随机图，节点数随 n 增长（下页）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760720" y="1691640"/>
          <a:ext cx="5943600" cy="352044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554480"/>
                <a:gridCol w="640080"/>
                <a:gridCol w="640080"/>
                <a:gridCol w="1005840"/>
                <a:gridCol w="1097280"/>
                <a:gridCol w="100584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实例</a:t>
                      </a:r>
                    </a:p>
                  </a:txBody>
                  <a:tcPr anchor="ctr" marL="54864" marR="54864" marT="18288" marB="18288">
                    <a:lnL w="9525">
                      <a:solidFill>
                        <a:srgbClr val="D5DBE8"/>
                      </a:solidFill>
                    </a:lnL>
                    <a:lnR w="9525">
                      <a:solidFill>
                        <a:srgbClr val="D5DBE8"/>
                      </a:solidFill>
                    </a:lnR>
                    <a:lnT w="9525">
                      <a:solidFill>
                        <a:srgbClr val="D5DBE8"/>
                      </a:solidFill>
                    </a:lnT>
                    <a:lnB w="9525">
                      <a:solidFill>
                        <a:srgbClr val="D5DBE8"/>
                      </a:solidFill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n</a:t>
                      </a:r>
                    </a:p>
                  </a:txBody>
                  <a:tcPr anchor="ctr" marL="54864" marR="54864" marT="18288" marB="18288">
                    <a:lnL w="9525">
                      <a:solidFill>
                        <a:srgbClr val="D5DBE8"/>
                      </a:solidFill>
                    </a:lnL>
                    <a:lnR w="9525">
                      <a:solidFill>
                        <a:srgbClr val="D5DBE8"/>
                      </a:solidFill>
                    </a:lnR>
                    <a:lnT w="9525">
                      <a:solidFill>
                        <a:srgbClr val="D5DBE8"/>
                      </a:solidFill>
                    </a:lnT>
                    <a:lnB w="9525">
                      <a:solidFill>
                        <a:srgbClr val="D5DBE8"/>
                      </a:solidFill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m</a:t>
                      </a:r>
                    </a:p>
                  </a:txBody>
                  <a:tcPr anchor="ctr" marL="54864" marR="54864" marT="18288" marB="18288">
                    <a:lnL w="9525">
                      <a:solidFill>
                        <a:srgbClr val="D5DBE8"/>
                      </a:solidFill>
                    </a:lnL>
                    <a:lnR w="9525">
                      <a:solidFill>
                        <a:srgbClr val="D5DBE8"/>
                      </a:solidFill>
                    </a:lnR>
                    <a:lnT w="9525">
                      <a:solidFill>
                        <a:srgbClr val="D5DBE8"/>
                      </a:solidFill>
                    </a:lnT>
                    <a:lnB w="9525">
                      <a:solidFill>
                        <a:srgbClr val="D5DBE8"/>
                      </a:solidFill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二染色</a:t>
                      </a:r>
                    </a:p>
                  </a:txBody>
                  <a:tcPr anchor="ctr" marL="54864" marR="54864" marT="18288" marB="18288">
                    <a:lnL w="9525">
                      <a:solidFill>
                        <a:srgbClr val="D5DBE8"/>
                      </a:solidFill>
                    </a:lnL>
                    <a:lnR w="9525">
                      <a:solidFill>
                        <a:srgbClr val="D5DBE8"/>
                      </a:solidFill>
                    </a:lnR>
                    <a:lnT w="9525">
                      <a:solidFill>
                        <a:srgbClr val="D5DBE8"/>
                      </a:solidFill>
                    </a:lnT>
                    <a:lnB w="9525">
                      <a:solidFill>
                        <a:srgbClr val="D5DBE8"/>
                      </a:solidFill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三染色</a:t>
                      </a:r>
                    </a:p>
                  </a:txBody>
                  <a:tcPr anchor="ctr" marL="54864" marR="54864" marT="18288" marB="18288">
                    <a:lnL w="9525">
                      <a:solidFill>
                        <a:srgbClr val="D5DBE8"/>
                      </a:solidFill>
                    </a:lnL>
                    <a:lnR w="9525">
                      <a:solidFill>
                        <a:srgbClr val="D5DBE8"/>
                      </a:solidFill>
                    </a:lnR>
                    <a:lnT w="9525">
                      <a:solidFill>
                        <a:srgbClr val="D5DBE8"/>
                      </a:solidFill>
                    </a:lnT>
                    <a:lnB w="9525">
                      <a:solidFill>
                        <a:srgbClr val="D5DBE8"/>
                      </a:solidFill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NODES</a:t>
                      </a:r>
                    </a:p>
                  </a:txBody>
                  <a:tcPr anchor="ctr" marL="54864" marR="54864" marT="18288" marB="18288">
                    <a:lnL w="9525">
                      <a:solidFill>
                        <a:srgbClr val="D5DBE8"/>
                      </a:solidFill>
                    </a:lnL>
                    <a:lnR w="9525">
                      <a:solidFill>
                        <a:srgbClr val="D5DBE8"/>
                      </a:solidFill>
                    </a:lnR>
                    <a:lnT w="9525">
                      <a:solidFill>
                        <a:srgbClr val="D5DBE8"/>
                      </a:solidFill>
                    </a:lnT>
                    <a:lnB w="9525">
                      <a:solidFill>
                        <a:srgbClr val="D5DBE8"/>
                      </a:solidFill>
                    </a:lnB>
                    <a:solidFill>
                      <a:srgbClr val="1F2A4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B3245"/>
                          </a:solidFill>
                          <a:latin typeface="Microsoft YaHei"/>
                          <a:ea typeface="Microsoft YaHei"/>
                        </a:rPr>
                        <a:t>triangle</a:t>
                      </a:r>
                    </a:p>
                  </a:txBody>
                  <a:tcPr anchor="ctr" marL="54864" marR="54864" marT="18288" marB="18288">
                    <a:lnL w="9525">
                      <a:solidFill>
                        <a:srgbClr val="D5DBE8"/>
                      </a:solidFill>
                    </a:lnL>
                    <a:lnR w="9525">
                      <a:solidFill>
                        <a:srgbClr val="D5DBE8"/>
                      </a:solidFill>
                    </a:lnR>
                    <a:lnT w="9525">
                      <a:solidFill>
                        <a:srgbClr val="D5DBE8"/>
                      </a:solidFill>
                    </a:lnT>
                    <a:lnB w="9525">
                      <a:solidFill>
                        <a:srgbClr val="D5DB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B3245"/>
                          </a:solidFill>
                          <a:latin typeface="Microsoft YaHei"/>
                          <a:ea typeface="Microsoft YaHei"/>
                        </a:rPr>
                        <a:t>3</a:t>
                      </a:r>
                    </a:p>
                  </a:txBody>
                  <a:tcPr anchor="ctr" marL="54864" marR="54864" marT="18288" marB="18288">
                    <a:lnL w="9525">
                      <a:solidFill>
                        <a:srgbClr val="D5DBE8"/>
                      </a:solidFill>
                    </a:lnL>
                    <a:lnR w="9525">
                      <a:solidFill>
                        <a:srgbClr val="D5DBE8"/>
                      </a:solidFill>
                    </a:lnR>
                    <a:lnT w="9525">
                      <a:solidFill>
                        <a:srgbClr val="D5DBE8"/>
                      </a:solidFill>
                    </a:lnT>
                    <a:lnB w="9525">
                      <a:solidFill>
                        <a:srgbClr val="D5DB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B3245"/>
                          </a:solidFill>
                          <a:latin typeface="Microsoft YaHei"/>
                          <a:ea typeface="Microsoft YaHei"/>
                        </a:rPr>
                        <a:t>3</a:t>
                      </a:r>
                    </a:p>
                  </a:txBody>
                  <a:tcPr anchor="ctr" marL="54864" marR="54864" marT="18288" marB="18288">
                    <a:lnL w="9525">
                      <a:solidFill>
                        <a:srgbClr val="D5DBE8"/>
                      </a:solidFill>
                    </a:lnL>
                    <a:lnR w="9525">
                      <a:solidFill>
                        <a:srgbClr val="D5DBE8"/>
                      </a:solidFill>
                    </a:lnR>
                    <a:lnT w="9525">
                      <a:solidFill>
                        <a:srgbClr val="D5DBE8"/>
                      </a:solidFill>
                    </a:lnT>
                    <a:lnB w="9525">
                      <a:solidFill>
                        <a:srgbClr val="D5DB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B3245"/>
                          </a:solidFill>
                          <a:latin typeface="Microsoft YaHei"/>
                          <a:ea typeface="Microsoft YaHei"/>
                        </a:rPr>
                        <a:t>否</a:t>
                      </a:r>
                    </a:p>
                  </a:txBody>
                  <a:tcPr anchor="ctr" marL="54864" marR="54864" marT="18288" marB="18288">
                    <a:lnL w="9525">
                      <a:solidFill>
                        <a:srgbClr val="D5DBE8"/>
                      </a:solidFill>
                    </a:lnL>
                    <a:lnR w="9525">
                      <a:solidFill>
                        <a:srgbClr val="D5DBE8"/>
                      </a:solidFill>
                    </a:lnR>
                    <a:lnT w="9525">
                      <a:solidFill>
                        <a:srgbClr val="D5DBE8"/>
                      </a:solidFill>
                    </a:lnT>
                    <a:lnB w="9525">
                      <a:solidFill>
                        <a:srgbClr val="D5DB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BA84A"/>
                          </a:solidFill>
                          <a:latin typeface="Microsoft YaHei"/>
                          <a:ea typeface="Microsoft YaHei"/>
                        </a:rPr>
                        <a:t>可</a:t>
                      </a:r>
                    </a:p>
                  </a:txBody>
                  <a:tcPr anchor="ctr" marL="54864" marR="54864" marT="18288" marB="18288">
                    <a:lnL w="9525">
                      <a:solidFill>
                        <a:srgbClr val="D5DBE8"/>
                      </a:solidFill>
                    </a:lnL>
                    <a:lnR w="9525">
                      <a:solidFill>
                        <a:srgbClr val="D5DBE8"/>
                      </a:solidFill>
                    </a:lnR>
                    <a:lnT w="9525">
                      <a:solidFill>
                        <a:srgbClr val="D5DBE8"/>
                      </a:solidFill>
                    </a:lnT>
                    <a:lnB w="9525">
                      <a:solidFill>
                        <a:srgbClr val="D5DB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B3245"/>
                          </a:solidFill>
                          <a:latin typeface="Microsoft YaHei"/>
                          <a:ea typeface="Microsoft YaHei"/>
                        </a:rPr>
                        <a:t>4</a:t>
                      </a:r>
                    </a:p>
                  </a:txBody>
                  <a:tcPr anchor="ctr" marL="54864" marR="54864" marT="18288" marB="18288">
                    <a:lnL w="9525">
                      <a:solidFill>
                        <a:srgbClr val="D5DBE8"/>
                      </a:solidFill>
                    </a:lnL>
                    <a:lnR w="9525">
                      <a:solidFill>
                        <a:srgbClr val="D5DBE8"/>
                      </a:solidFill>
                    </a:lnR>
                    <a:lnT w="9525">
                      <a:solidFill>
                        <a:srgbClr val="D5DBE8"/>
                      </a:solidFill>
                    </a:lnT>
                    <a:lnB w="9525">
                      <a:solidFill>
                        <a:srgbClr val="D5DB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B3245"/>
                          </a:solidFill>
                          <a:latin typeface="Microsoft YaHei"/>
                          <a:ea typeface="Microsoft YaHei"/>
                        </a:rPr>
                        <a:t>k4</a:t>
                      </a:r>
                    </a:p>
                  </a:txBody>
                  <a:tcPr anchor="ctr" marL="54864" marR="54864" marT="18288" marB="18288">
                    <a:lnL w="9525">
                      <a:solidFill>
                        <a:srgbClr val="D5DBE8"/>
                      </a:solidFill>
                    </a:lnL>
                    <a:lnR w="9525">
                      <a:solidFill>
                        <a:srgbClr val="D5DBE8"/>
                      </a:solidFill>
                    </a:lnR>
                    <a:lnT w="9525">
                      <a:solidFill>
                        <a:srgbClr val="D5DBE8"/>
                      </a:solidFill>
                    </a:lnT>
                    <a:lnB w="9525">
                      <a:solidFill>
                        <a:srgbClr val="D5DBE8"/>
                      </a:solidFill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B3245"/>
                          </a:solidFill>
                          <a:latin typeface="Microsoft YaHei"/>
                          <a:ea typeface="Microsoft YaHei"/>
                        </a:rPr>
                        <a:t>4</a:t>
                      </a:r>
                    </a:p>
                  </a:txBody>
                  <a:tcPr anchor="ctr" marL="54864" marR="54864" marT="18288" marB="18288">
                    <a:lnL w="9525">
                      <a:solidFill>
                        <a:srgbClr val="D5DBE8"/>
                      </a:solidFill>
                    </a:lnL>
                    <a:lnR w="9525">
                      <a:solidFill>
                        <a:srgbClr val="D5DBE8"/>
                      </a:solidFill>
                    </a:lnR>
                    <a:lnT w="9525">
                      <a:solidFill>
                        <a:srgbClr val="D5DBE8"/>
                      </a:solidFill>
                    </a:lnT>
                    <a:lnB w="9525">
                      <a:solidFill>
                        <a:srgbClr val="D5DBE8"/>
                      </a:solidFill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B3245"/>
                          </a:solidFill>
                          <a:latin typeface="Microsoft YaHei"/>
                          <a:ea typeface="Microsoft YaHei"/>
                        </a:rPr>
                        <a:t>6</a:t>
                      </a:r>
                    </a:p>
                  </a:txBody>
                  <a:tcPr anchor="ctr" marL="54864" marR="54864" marT="18288" marB="18288">
                    <a:lnL w="9525">
                      <a:solidFill>
                        <a:srgbClr val="D5DBE8"/>
                      </a:solidFill>
                    </a:lnL>
                    <a:lnR w="9525">
                      <a:solidFill>
                        <a:srgbClr val="D5DBE8"/>
                      </a:solidFill>
                    </a:lnR>
                    <a:lnT w="9525">
                      <a:solidFill>
                        <a:srgbClr val="D5DBE8"/>
                      </a:solidFill>
                    </a:lnT>
                    <a:lnB w="9525">
                      <a:solidFill>
                        <a:srgbClr val="D5DBE8"/>
                      </a:solidFill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B3245"/>
                          </a:solidFill>
                          <a:latin typeface="Microsoft YaHei"/>
                          <a:ea typeface="Microsoft YaHei"/>
                        </a:rPr>
                        <a:t>否</a:t>
                      </a:r>
                    </a:p>
                  </a:txBody>
                  <a:tcPr anchor="ctr" marL="54864" marR="54864" marT="18288" marB="18288">
                    <a:lnL w="9525">
                      <a:solidFill>
                        <a:srgbClr val="D5DBE8"/>
                      </a:solidFill>
                    </a:lnL>
                    <a:lnR w="9525">
                      <a:solidFill>
                        <a:srgbClr val="D5DBE8"/>
                      </a:solidFill>
                    </a:lnR>
                    <a:lnT w="9525">
                      <a:solidFill>
                        <a:srgbClr val="D5DBE8"/>
                      </a:solidFill>
                    </a:lnT>
                    <a:lnB w="9525">
                      <a:solidFill>
                        <a:srgbClr val="D5DBE8"/>
                      </a:solidFill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D64545"/>
                          </a:solidFill>
                          <a:latin typeface="Microsoft YaHei"/>
                          <a:ea typeface="Microsoft YaHei"/>
                        </a:rPr>
                        <a:t>不可</a:t>
                      </a:r>
                    </a:p>
                  </a:txBody>
                  <a:tcPr anchor="ctr" marL="54864" marR="54864" marT="18288" marB="18288">
                    <a:lnL w="9525">
                      <a:solidFill>
                        <a:srgbClr val="D5DBE8"/>
                      </a:solidFill>
                    </a:lnL>
                    <a:lnR w="9525">
                      <a:solidFill>
                        <a:srgbClr val="D5DBE8"/>
                      </a:solidFill>
                    </a:lnR>
                    <a:lnT w="9525">
                      <a:solidFill>
                        <a:srgbClr val="D5DBE8"/>
                      </a:solidFill>
                    </a:lnT>
                    <a:lnB w="9525">
                      <a:solidFill>
                        <a:srgbClr val="D5DBE8"/>
                      </a:solidFill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B3245"/>
                          </a:solidFill>
                          <a:latin typeface="Microsoft YaHei"/>
                          <a:ea typeface="Microsoft YaHei"/>
                        </a:rPr>
                        <a:t>16</a:t>
                      </a:r>
                    </a:p>
                  </a:txBody>
                  <a:tcPr anchor="ctr" marL="54864" marR="54864" marT="18288" marB="18288">
                    <a:lnL w="9525">
                      <a:solidFill>
                        <a:srgbClr val="D5DBE8"/>
                      </a:solidFill>
                    </a:lnL>
                    <a:lnR w="9525">
                      <a:solidFill>
                        <a:srgbClr val="D5DBE8"/>
                      </a:solidFill>
                    </a:lnR>
                    <a:lnT w="9525">
                      <a:solidFill>
                        <a:srgbClr val="D5DBE8"/>
                      </a:solidFill>
                    </a:lnT>
                    <a:lnB w="9525">
                      <a:solidFill>
                        <a:srgbClr val="D5DBE8"/>
                      </a:solidFill>
                    </a:lnB>
                    <a:solidFill>
                      <a:srgbClr val="F4F6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B3245"/>
                          </a:solidFill>
                          <a:latin typeface="Microsoft YaHei"/>
                          <a:ea typeface="Microsoft YaHei"/>
                        </a:rPr>
                        <a:t>cycle5</a:t>
                      </a:r>
                    </a:p>
                  </a:txBody>
                  <a:tcPr anchor="ctr" marL="54864" marR="54864" marT="18288" marB="18288">
                    <a:lnL w="9525">
                      <a:solidFill>
                        <a:srgbClr val="D5DBE8"/>
                      </a:solidFill>
                    </a:lnL>
                    <a:lnR w="9525">
                      <a:solidFill>
                        <a:srgbClr val="D5DBE8"/>
                      </a:solidFill>
                    </a:lnR>
                    <a:lnT w="9525">
                      <a:solidFill>
                        <a:srgbClr val="D5DBE8"/>
                      </a:solidFill>
                    </a:lnT>
                    <a:lnB w="9525">
                      <a:solidFill>
                        <a:srgbClr val="D5DB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B3245"/>
                          </a:solidFill>
                          <a:latin typeface="Microsoft YaHei"/>
                          <a:ea typeface="Microsoft YaHei"/>
                        </a:rPr>
                        <a:t>5</a:t>
                      </a:r>
                    </a:p>
                  </a:txBody>
                  <a:tcPr anchor="ctr" marL="54864" marR="54864" marT="18288" marB="18288">
                    <a:lnL w="9525">
                      <a:solidFill>
                        <a:srgbClr val="D5DBE8"/>
                      </a:solidFill>
                    </a:lnL>
                    <a:lnR w="9525">
                      <a:solidFill>
                        <a:srgbClr val="D5DBE8"/>
                      </a:solidFill>
                    </a:lnR>
                    <a:lnT w="9525">
                      <a:solidFill>
                        <a:srgbClr val="D5DBE8"/>
                      </a:solidFill>
                    </a:lnT>
                    <a:lnB w="9525">
                      <a:solidFill>
                        <a:srgbClr val="D5DB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B3245"/>
                          </a:solidFill>
                          <a:latin typeface="Microsoft YaHei"/>
                          <a:ea typeface="Microsoft YaHei"/>
                        </a:rPr>
                        <a:t>5</a:t>
                      </a:r>
                    </a:p>
                  </a:txBody>
                  <a:tcPr anchor="ctr" marL="54864" marR="54864" marT="18288" marB="18288">
                    <a:lnL w="9525">
                      <a:solidFill>
                        <a:srgbClr val="D5DBE8"/>
                      </a:solidFill>
                    </a:lnL>
                    <a:lnR w="9525">
                      <a:solidFill>
                        <a:srgbClr val="D5DBE8"/>
                      </a:solidFill>
                    </a:lnR>
                    <a:lnT w="9525">
                      <a:solidFill>
                        <a:srgbClr val="D5DBE8"/>
                      </a:solidFill>
                    </a:lnT>
                    <a:lnB w="9525">
                      <a:solidFill>
                        <a:srgbClr val="D5DB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B3245"/>
                          </a:solidFill>
                          <a:latin typeface="Microsoft YaHei"/>
                          <a:ea typeface="Microsoft YaHei"/>
                        </a:rPr>
                        <a:t>否</a:t>
                      </a:r>
                    </a:p>
                  </a:txBody>
                  <a:tcPr anchor="ctr" marL="54864" marR="54864" marT="18288" marB="18288">
                    <a:lnL w="9525">
                      <a:solidFill>
                        <a:srgbClr val="D5DBE8"/>
                      </a:solidFill>
                    </a:lnL>
                    <a:lnR w="9525">
                      <a:solidFill>
                        <a:srgbClr val="D5DBE8"/>
                      </a:solidFill>
                    </a:lnR>
                    <a:lnT w="9525">
                      <a:solidFill>
                        <a:srgbClr val="D5DBE8"/>
                      </a:solidFill>
                    </a:lnT>
                    <a:lnB w="9525">
                      <a:solidFill>
                        <a:srgbClr val="D5DB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BA84A"/>
                          </a:solidFill>
                          <a:latin typeface="Microsoft YaHei"/>
                          <a:ea typeface="Microsoft YaHei"/>
                        </a:rPr>
                        <a:t>可</a:t>
                      </a:r>
                    </a:p>
                  </a:txBody>
                  <a:tcPr anchor="ctr" marL="54864" marR="54864" marT="18288" marB="18288">
                    <a:lnL w="9525">
                      <a:solidFill>
                        <a:srgbClr val="D5DBE8"/>
                      </a:solidFill>
                    </a:lnL>
                    <a:lnR w="9525">
                      <a:solidFill>
                        <a:srgbClr val="D5DBE8"/>
                      </a:solidFill>
                    </a:lnR>
                    <a:lnT w="9525">
                      <a:solidFill>
                        <a:srgbClr val="D5DBE8"/>
                      </a:solidFill>
                    </a:lnT>
                    <a:lnB w="9525">
                      <a:solidFill>
                        <a:srgbClr val="D5DB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B3245"/>
                          </a:solidFill>
                          <a:latin typeface="Microsoft YaHei"/>
                          <a:ea typeface="Microsoft YaHei"/>
                        </a:rPr>
                        <a:t>6</a:t>
                      </a:r>
                    </a:p>
                  </a:txBody>
                  <a:tcPr anchor="ctr" marL="54864" marR="54864" marT="18288" marB="18288">
                    <a:lnL w="9525">
                      <a:solidFill>
                        <a:srgbClr val="D5DBE8"/>
                      </a:solidFill>
                    </a:lnL>
                    <a:lnR w="9525">
                      <a:solidFill>
                        <a:srgbClr val="D5DBE8"/>
                      </a:solidFill>
                    </a:lnR>
                    <a:lnT w="9525">
                      <a:solidFill>
                        <a:srgbClr val="D5DBE8"/>
                      </a:solidFill>
                    </a:lnT>
                    <a:lnB w="9525">
                      <a:solidFill>
                        <a:srgbClr val="D5DB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B3245"/>
                          </a:solidFill>
                          <a:latin typeface="Microsoft YaHei"/>
                          <a:ea typeface="Microsoft YaHei"/>
                        </a:rPr>
                        <a:t>grid_4x4</a:t>
                      </a:r>
                    </a:p>
                  </a:txBody>
                  <a:tcPr anchor="ctr" marL="54864" marR="54864" marT="18288" marB="18288">
                    <a:lnL w="9525">
                      <a:solidFill>
                        <a:srgbClr val="D5DBE8"/>
                      </a:solidFill>
                    </a:lnL>
                    <a:lnR w="9525">
                      <a:solidFill>
                        <a:srgbClr val="D5DBE8"/>
                      </a:solidFill>
                    </a:lnR>
                    <a:lnT w="9525">
                      <a:solidFill>
                        <a:srgbClr val="D5DBE8"/>
                      </a:solidFill>
                    </a:lnT>
                    <a:lnB w="9525">
                      <a:solidFill>
                        <a:srgbClr val="D5DBE8"/>
                      </a:solidFill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B3245"/>
                          </a:solidFill>
                          <a:latin typeface="Microsoft YaHei"/>
                          <a:ea typeface="Microsoft YaHei"/>
                        </a:rPr>
                        <a:t>16</a:t>
                      </a:r>
                    </a:p>
                  </a:txBody>
                  <a:tcPr anchor="ctr" marL="54864" marR="54864" marT="18288" marB="18288">
                    <a:lnL w="9525">
                      <a:solidFill>
                        <a:srgbClr val="D5DBE8"/>
                      </a:solidFill>
                    </a:lnL>
                    <a:lnR w="9525">
                      <a:solidFill>
                        <a:srgbClr val="D5DBE8"/>
                      </a:solidFill>
                    </a:lnR>
                    <a:lnT w="9525">
                      <a:solidFill>
                        <a:srgbClr val="D5DBE8"/>
                      </a:solidFill>
                    </a:lnT>
                    <a:lnB w="9525">
                      <a:solidFill>
                        <a:srgbClr val="D5DBE8"/>
                      </a:solidFill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B3245"/>
                          </a:solidFill>
                          <a:latin typeface="Microsoft YaHei"/>
                          <a:ea typeface="Microsoft YaHei"/>
                        </a:rPr>
                        <a:t>24</a:t>
                      </a:r>
                    </a:p>
                  </a:txBody>
                  <a:tcPr anchor="ctr" marL="54864" marR="54864" marT="18288" marB="18288">
                    <a:lnL w="9525">
                      <a:solidFill>
                        <a:srgbClr val="D5DBE8"/>
                      </a:solidFill>
                    </a:lnL>
                    <a:lnR w="9525">
                      <a:solidFill>
                        <a:srgbClr val="D5DBE8"/>
                      </a:solidFill>
                    </a:lnR>
                    <a:lnT w="9525">
                      <a:solidFill>
                        <a:srgbClr val="D5DBE8"/>
                      </a:solidFill>
                    </a:lnT>
                    <a:lnB w="9525">
                      <a:solidFill>
                        <a:srgbClr val="D5DBE8"/>
                      </a:solidFill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BA84A"/>
                          </a:solidFill>
                          <a:latin typeface="Microsoft YaHei"/>
                          <a:ea typeface="Microsoft YaHei"/>
                        </a:rPr>
                        <a:t>是</a:t>
                      </a:r>
                    </a:p>
                  </a:txBody>
                  <a:tcPr anchor="ctr" marL="54864" marR="54864" marT="18288" marB="18288">
                    <a:lnL w="9525">
                      <a:solidFill>
                        <a:srgbClr val="D5DBE8"/>
                      </a:solidFill>
                    </a:lnL>
                    <a:lnR w="9525">
                      <a:solidFill>
                        <a:srgbClr val="D5DBE8"/>
                      </a:solidFill>
                    </a:lnR>
                    <a:lnT w="9525">
                      <a:solidFill>
                        <a:srgbClr val="D5DBE8"/>
                      </a:solidFill>
                    </a:lnT>
                    <a:lnB w="9525">
                      <a:solidFill>
                        <a:srgbClr val="D5DBE8"/>
                      </a:solidFill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BA84A"/>
                          </a:solidFill>
                          <a:latin typeface="Microsoft YaHei"/>
                          <a:ea typeface="Microsoft YaHei"/>
                        </a:rPr>
                        <a:t>可</a:t>
                      </a:r>
                    </a:p>
                  </a:txBody>
                  <a:tcPr anchor="ctr" marL="54864" marR="54864" marT="18288" marB="18288">
                    <a:lnL w="9525">
                      <a:solidFill>
                        <a:srgbClr val="D5DBE8"/>
                      </a:solidFill>
                    </a:lnL>
                    <a:lnR w="9525">
                      <a:solidFill>
                        <a:srgbClr val="D5DBE8"/>
                      </a:solidFill>
                    </a:lnR>
                    <a:lnT w="9525">
                      <a:solidFill>
                        <a:srgbClr val="D5DBE8"/>
                      </a:solidFill>
                    </a:lnT>
                    <a:lnB w="9525">
                      <a:solidFill>
                        <a:srgbClr val="D5DBE8"/>
                      </a:solidFill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B3245"/>
                          </a:solidFill>
                          <a:latin typeface="Microsoft YaHei"/>
                          <a:ea typeface="Microsoft YaHei"/>
                        </a:rPr>
                        <a:t>17</a:t>
                      </a:r>
                    </a:p>
                  </a:txBody>
                  <a:tcPr anchor="ctr" marL="54864" marR="54864" marT="18288" marB="18288">
                    <a:lnL w="9525">
                      <a:solidFill>
                        <a:srgbClr val="D5DBE8"/>
                      </a:solidFill>
                    </a:lnL>
                    <a:lnR w="9525">
                      <a:solidFill>
                        <a:srgbClr val="D5DBE8"/>
                      </a:solidFill>
                    </a:lnR>
                    <a:lnT w="9525">
                      <a:solidFill>
                        <a:srgbClr val="D5DBE8"/>
                      </a:solidFill>
                    </a:lnT>
                    <a:lnB w="9525">
                      <a:solidFill>
                        <a:srgbClr val="D5DBE8"/>
                      </a:solidFill>
                    </a:lnB>
                    <a:solidFill>
                      <a:srgbClr val="F4F6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B3245"/>
                          </a:solidFill>
                          <a:latin typeface="Microsoft YaHei"/>
                          <a:ea typeface="Microsoft YaHei"/>
                        </a:rPr>
                        <a:t>petersen</a:t>
                      </a:r>
                    </a:p>
                  </a:txBody>
                  <a:tcPr anchor="ctr" marL="54864" marR="54864" marT="18288" marB="18288">
                    <a:lnL w="9525">
                      <a:solidFill>
                        <a:srgbClr val="D5DBE8"/>
                      </a:solidFill>
                    </a:lnL>
                    <a:lnR w="9525">
                      <a:solidFill>
                        <a:srgbClr val="D5DBE8"/>
                      </a:solidFill>
                    </a:lnR>
                    <a:lnT w="9525">
                      <a:solidFill>
                        <a:srgbClr val="D5DBE8"/>
                      </a:solidFill>
                    </a:lnT>
                    <a:lnB w="9525">
                      <a:solidFill>
                        <a:srgbClr val="D5DB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B3245"/>
                          </a:solidFill>
                          <a:latin typeface="Microsoft YaHei"/>
                          <a:ea typeface="Microsoft YaHei"/>
                        </a:rPr>
                        <a:t>10</a:t>
                      </a:r>
                    </a:p>
                  </a:txBody>
                  <a:tcPr anchor="ctr" marL="54864" marR="54864" marT="18288" marB="18288">
                    <a:lnL w="9525">
                      <a:solidFill>
                        <a:srgbClr val="D5DBE8"/>
                      </a:solidFill>
                    </a:lnL>
                    <a:lnR w="9525">
                      <a:solidFill>
                        <a:srgbClr val="D5DBE8"/>
                      </a:solidFill>
                    </a:lnR>
                    <a:lnT w="9525">
                      <a:solidFill>
                        <a:srgbClr val="D5DBE8"/>
                      </a:solidFill>
                    </a:lnT>
                    <a:lnB w="9525">
                      <a:solidFill>
                        <a:srgbClr val="D5DB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B3245"/>
                          </a:solidFill>
                          <a:latin typeface="Microsoft YaHei"/>
                          <a:ea typeface="Microsoft YaHei"/>
                        </a:rPr>
                        <a:t>15</a:t>
                      </a:r>
                    </a:p>
                  </a:txBody>
                  <a:tcPr anchor="ctr" marL="54864" marR="54864" marT="18288" marB="18288">
                    <a:lnL w="9525">
                      <a:solidFill>
                        <a:srgbClr val="D5DBE8"/>
                      </a:solidFill>
                    </a:lnL>
                    <a:lnR w="9525">
                      <a:solidFill>
                        <a:srgbClr val="D5DBE8"/>
                      </a:solidFill>
                    </a:lnR>
                    <a:lnT w="9525">
                      <a:solidFill>
                        <a:srgbClr val="D5DBE8"/>
                      </a:solidFill>
                    </a:lnT>
                    <a:lnB w="9525">
                      <a:solidFill>
                        <a:srgbClr val="D5DB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B3245"/>
                          </a:solidFill>
                          <a:latin typeface="Microsoft YaHei"/>
                          <a:ea typeface="Microsoft YaHei"/>
                        </a:rPr>
                        <a:t>否</a:t>
                      </a:r>
                    </a:p>
                  </a:txBody>
                  <a:tcPr anchor="ctr" marL="54864" marR="54864" marT="18288" marB="18288">
                    <a:lnL w="9525">
                      <a:solidFill>
                        <a:srgbClr val="D5DBE8"/>
                      </a:solidFill>
                    </a:lnL>
                    <a:lnR w="9525">
                      <a:solidFill>
                        <a:srgbClr val="D5DBE8"/>
                      </a:solidFill>
                    </a:lnR>
                    <a:lnT w="9525">
                      <a:solidFill>
                        <a:srgbClr val="D5DBE8"/>
                      </a:solidFill>
                    </a:lnT>
                    <a:lnB w="9525">
                      <a:solidFill>
                        <a:srgbClr val="D5DB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BA84A"/>
                          </a:solidFill>
                          <a:latin typeface="Microsoft YaHei"/>
                          <a:ea typeface="Microsoft YaHei"/>
                        </a:rPr>
                        <a:t>可</a:t>
                      </a:r>
                    </a:p>
                  </a:txBody>
                  <a:tcPr anchor="ctr" marL="54864" marR="54864" marT="18288" marB="18288">
                    <a:lnL w="9525">
                      <a:solidFill>
                        <a:srgbClr val="D5DBE8"/>
                      </a:solidFill>
                    </a:lnL>
                    <a:lnR w="9525">
                      <a:solidFill>
                        <a:srgbClr val="D5DBE8"/>
                      </a:solidFill>
                    </a:lnR>
                    <a:lnT w="9525">
                      <a:solidFill>
                        <a:srgbClr val="D5DBE8"/>
                      </a:solidFill>
                    </a:lnT>
                    <a:lnB w="9525">
                      <a:solidFill>
                        <a:srgbClr val="D5DB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B3245"/>
                          </a:solidFill>
                          <a:latin typeface="Microsoft YaHei"/>
                          <a:ea typeface="Microsoft YaHei"/>
                        </a:rPr>
                        <a:t>11</a:t>
                      </a:r>
                    </a:p>
                  </a:txBody>
                  <a:tcPr anchor="ctr" marL="54864" marR="54864" marT="18288" marB="18288">
                    <a:lnL w="9525">
                      <a:solidFill>
                        <a:srgbClr val="D5DBE8"/>
                      </a:solidFill>
                    </a:lnL>
                    <a:lnR w="9525">
                      <a:solidFill>
                        <a:srgbClr val="D5DBE8"/>
                      </a:solidFill>
                    </a:lnR>
                    <a:lnT w="9525">
                      <a:solidFill>
                        <a:srgbClr val="D5DBE8"/>
                      </a:solidFill>
                    </a:lnT>
                    <a:lnB w="9525">
                      <a:solidFill>
                        <a:srgbClr val="D5DB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B3245"/>
                          </a:solidFill>
                          <a:latin typeface="Microsoft YaHei"/>
                          <a:ea typeface="Microsoft YaHei"/>
                        </a:rPr>
                        <a:t>mycielski4</a:t>
                      </a:r>
                    </a:p>
                  </a:txBody>
                  <a:tcPr anchor="ctr" marL="54864" marR="54864" marT="18288" marB="18288">
                    <a:lnL w="9525">
                      <a:solidFill>
                        <a:srgbClr val="D5DBE8"/>
                      </a:solidFill>
                    </a:lnL>
                    <a:lnR w="9525">
                      <a:solidFill>
                        <a:srgbClr val="D5DBE8"/>
                      </a:solidFill>
                    </a:lnR>
                    <a:lnT w="9525">
                      <a:solidFill>
                        <a:srgbClr val="D5DBE8"/>
                      </a:solidFill>
                    </a:lnT>
                    <a:lnB w="9525">
                      <a:solidFill>
                        <a:srgbClr val="D5DBE8"/>
                      </a:solidFill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B3245"/>
                          </a:solidFill>
                          <a:latin typeface="Microsoft YaHei"/>
                          <a:ea typeface="Microsoft YaHei"/>
                        </a:rPr>
                        <a:t>11</a:t>
                      </a:r>
                    </a:p>
                  </a:txBody>
                  <a:tcPr anchor="ctr" marL="54864" marR="54864" marT="18288" marB="18288">
                    <a:lnL w="9525">
                      <a:solidFill>
                        <a:srgbClr val="D5DBE8"/>
                      </a:solidFill>
                    </a:lnL>
                    <a:lnR w="9525">
                      <a:solidFill>
                        <a:srgbClr val="D5DBE8"/>
                      </a:solidFill>
                    </a:lnR>
                    <a:lnT w="9525">
                      <a:solidFill>
                        <a:srgbClr val="D5DBE8"/>
                      </a:solidFill>
                    </a:lnT>
                    <a:lnB w="9525">
                      <a:solidFill>
                        <a:srgbClr val="D5DBE8"/>
                      </a:solidFill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B3245"/>
                          </a:solidFill>
                          <a:latin typeface="Microsoft YaHei"/>
                          <a:ea typeface="Microsoft YaHei"/>
                        </a:rPr>
                        <a:t>20</a:t>
                      </a:r>
                    </a:p>
                  </a:txBody>
                  <a:tcPr anchor="ctr" marL="54864" marR="54864" marT="18288" marB="18288">
                    <a:lnL w="9525">
                      <a:solidFill>
                        <a:srgbClr val="D5DBE8"/>
                      </a:solidFill>
                    </a:lnL>
                    <a:lnR w="9525">
                      <a:solidFill>
                        <a:srgbClr val="D5DBE8"/>
                      </a:solidFill>
                    </a:lnR>
                    <a:lnT w="9525">
                      <a:solidFill>
                        <a:srgbClr val="D5DBE8"/>
                      </a:solidFill>
                    </a:lnT>
                    <a:lnB w="9525">
                      <a:solidFill>
                        <a:srgbClr val="D5DBE8"/>
                      </a:solidFill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B3245"/>
                          </a:solidFill>
                          <a:latin typeface="Microsoft YaHei"/>
                          <a:ea typeface="Microsoft YaHei"/>
                        </a:rPr>
                        <a:t>否</a:t>
                      </a:r>
                    </a:p>
                  </a:txBody>
                  <a:tcPr anchor="ctr" marL="54864" marR="54864" marT="18288" marB="18288">
                    <a:lnL w="9525">
                      <a:solidFill>
                        <a:srgbClr val="D5DBE8"/>
                      </a:solidFill>
                    </a:lnL>
                    <a:lnR w="9525">
                      <a:solidFill>
                        <a:srgbClr val="D5DBE8"/>
                      </a:solidFill>
                    </a:lnR>
                    <a:lnT w="9525">
                      <a:solidFill>
                        <a:srgbClr val="D5DBE8"/>
                      </a:solidFill>
                    </a:lnT>
                    <a:lnB w="9525">
                      <a:solidFill>
                        <a:srgbClr val="D5DBE8"/>
                      </a:solidFill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D64545"/>
                          </a:solidFill>
                          <a:latin typeface="Microsoft YaHei"/>
                          <a:ea typeface="Microsoft YaHei"/>
                        </a:rPr>
                        <a:t>不可</a:t>
                      </a:r>
                    </a:p>
                  </a:txBody>
                  <a:tcPr anchor="ctr" marL="54864" marR="54864" marT="18288" marB="18288">
                    <a:lnL w="9525">
                      <a:solidFill>
                        <a:srgbClr val="D5DBE8"/>
                      </a:solidFill>
                    </a:lnL>
                    <a:lnR w="9525">
                      <a:solidFill>
                        <a:srgbClr val="D5DBE8"/>
                      </a:solidFill>
                    </a:lnR>
                    <a:lnT w="9525">
                      <a:solidFill>
                        <a:srgbClr val="D5DBE8"/>
                      </a:solidFill>
                    </a:lnT>
                    <a:lnB w="9525">
                      <a:solidFill>
                        <a:srgbClr val="D5DBE8"/>
                      </a:solidFill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B3245"/>
                          </a:solidFill>
                          <a:latin typeface="Microsoft YaHei"/>
                          <a:ea typeface="Microsoft YaHei"/>
                        </a:rPr>
                        <a:t>472</a:t>
                      </a:r>
                    </a:p>
                  </a:txBody>
                  <a:tcPr anchor="ctr" marL="54864" marR="54864" marT="18288" marB="18288">
                    <a:lnL w="9525">
                      <a:solidFill>
                        <a:srgbClr val="D5DBE8"/>
                      </a:solidFill>
                    </a:lnL>
                    <a:lnR w="9525">
                      <a:solidFill>
                        <a:srgbClr val="D5DBE8"/>
                      </a:solidFill>
                    </a:lnR>
                    <a:lnT w="9525">
                      <a:solidFill>
                        <a:srgbClr val="D5DBE8"/>
                      </a:solidFill>
                    </a:lnT>
                    <a:lnB w="9525">
                      <a:solidFill>
                        <a:srgbClr val="D5DBE8"/>
                      </a:solidFill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760720" y="5349240"/>
            <a:ext cx="59436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Microsoft YaHei"/>
                <a:ea typeface="Microsoft YaHei"/>
              </a:rPr>
              <a:t>mycielski4 只有 11 个顶点，却要 472 个节点才能确认无解 —— 比 K4（16）多 30 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A5BD"/>
                </a:solidFill>
                <a:latin typeface="Microsoft YaHei"/>
                <a:ea typeface="Microsoft YaHei"/>
              </a:rPr>
              <a:t>图三染色 · Basic 展示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73952"/>
            <a:ext cx="10058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AA5BD"/>
                </a:solidFill>
                <a:latin typeface="Microsoft YaHei"/>
                <a:ea typeface="Microsoft YaHei"/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84048"/>
            <a:ext cx="128016" cy="566928"/>
          </a:xfrm>
          <a:prstGeom prst="rect">
            <a:avLst/>
          </a:prstGeom>
          <a:solidFill>
            <a:srgbClr val="2E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92608"/>
            <a:ext cx="1133856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2A44"/>
                </a:solidFill>
                <a:latin typeface="Microsoft YaHei"/>
                <a:ea typeface="Microsoft YaHei"/>
              </a:rPr>
              <a:t>指数爆炸实验：节点数随 n 近似 c^n 增长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78408"/>
            <a:ext cx="1124712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B7280"/>
                </a:solidFill>
                <a:latin typeface="Microsoft YaHei"/>
                <a:ea typeface="Microsoft YaHei"/>
              </a:rPr>
              <a:t>随机图，平均度数 4.7（m = round(4.7n/2)），每个规模 20 个实例取平均，种子 2026–2045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554480"/>
          <a:ext cx="7315200" cy="46634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046720" y="1691640"/>
            <a:ext cx="3840480" cy="4480560"/>
          </a:xfrm>
          <a:prstGeom prst="roundRect">
            <a:avLst>
              <a:gd name="adj" fmla="val 2857"/>
            </a:avLst>
          </a:prstGeom>
          <a:solidFill>
            <a:srgbClr val="EEF2FA"/>
          </a:solidFill>
          <a:ln w="15875">
            <a:solidFill>
              <a:srgbClr val="D5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800" b="1">
                <a:solidFill>
                  <a:srgbClr val="1F2A44"/>
                </a:solidFill>
                <a:latin typeface="Microsoft YaHei"/>
                <a:ea typeface="Microsoft YaHei"/>
              </a:rPr>
              <a:t>读图要点</a:t>
            </a:r>
          </a:p>
          <a:p>
            <a:pPr algn="l"/>
            <a:r>
              <a:rPr sz="600" b="0">
                <a:solidFill>
                  <a:srgbClr val="2B3245"/>
                </a:solidFill>
                <a:latin typeface="Microsoft YaHei"/>
                <a:ea typeface="Microsoft YaHei"/>
              </a:rPr>
              <a:t> </a:t>
            </a:r>
          </a:p>
          <a:p>
            <a:pPr algn="l"/>
            <a:r>
              <a:rPr sz="1700" b="0">
                <a:solidFill>
                  <a:srgbClr val="2B3245"/>
                </a:solidFill>
                <a:latin typeface="Microsoft YaHei"/>
                <a:ea typeface="Microsoft YaHei"/>
              </a:rPr>
              <a:t>最小二乘拟合：c ≈ 1.43</a:t>
            </a:r>
          </a:p>
          <a:p>
            <a:pPr algn="l"/>
            <a:r>
              <a:rPr sz="1700" b="0">
                <a:solidFill>
                  <a:srgbClr val="2B3245"/>
                </a:solidFill>
                <a:latin typeface="Microsoft YaHei"/>
                <a:ea typeface="Microsoft YaHei"/>
              </a:rPr>
              <a:t>n = 20 → 28：逐步增长率约 1.35</a:t>
            </a:r>
          </a:p>
          <a:p>
            <a:pPr algn="l"/>
            <a:r>
              <a:rPr sz="1700" b="0">
                <a:solidFill>
                  <a:srgbClr val="2B3245"/>
                </a:solidFill>
                <a:latin typeface="Microsoft YaHei"/>
                <a:ea typeface="Microsoft YaHei"/>
              </a:rPr>
              <a:t>每增加 2 个顶点，节点数约翻一番</a:t>
            </a:r>
          </a:p>
          <a:p>
            <a:pPr algn="l"/>
            <a:r>
              <a:rPr sz="600" b="0">
                <a:solidFill>
                  <a:srgbClr val="2B3245"/>
                </a:solidFill>
                <a:latin typeface="Microsoft YaHei"/>
                <a:ea typeface="Microsoft YaHei"/>
              </a:rPr>
              <a:t> </a:t>
            </a:r>
          </a:p>
          <a:p>
            <a:pPr algn="l"/>
            <a:r>
              <a:rPr sz="1500" b="0">
                <a:solidFill>
                  <a:srgbClr val="6B7280"/>
                </a:solidFill>
                <a:latin typeface="Microsoft YaHei"/>
                <a:ea typeface="Microsoft YaHei"/>
              </a:rPr>
              <a:t>n = 28 时平均约 9.6 万个节点、约 0.1 秒（本机 Python）；n 再增大会迅速变慢</a:t>
            </a:r>
          </a:p>
          <a:p>
            <a:pPr algn="l"/>
            <a:r>
              <a:rPr sz="600" b="0">
                <a:solidFill>
                  <a:srgbClr val="2B3245"/>
                </a:solidFill>
                <a:latin typeface="Microsoft YaHei"/>
                <a:ea typeface="Microsoft YaHei"/>
              </a:rPr>
              <a:t> </a:t>
            </a:r>
          </a:p>
          <a:p>
            <a:pPr algn="l"/>
            <a:r>
              <a:rPr sz="1400" b="0">
                <a:solidFill>
                  <a:srgbClr val="D64545"/>
                </a:solidFill>
                <a:latin typeface="Microsoft YaHei"/>
                <a:ea typeface="Microsoft YaHei"/>
              </a:rPr>
              <a:t>仅为 n ≤ 28 的实验趋势，不是复杂度证明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A5BD"/>
                </a:solidFill>
                <a:latin typeface="Microsoft YaHei"/>
                <a:ea typeface="Microsoft YaHei"/>
              </a:rPr>
              <a:t>图三染色 · Basic 展示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73952"/>
            <a:ext cx="10058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AA5BD"/>
                </a:solidFill>
                <a:latin typeface="Microsoft YaHei"/>
                <a:ea typeface="Microsoft YaHei"/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84048"/>
            <a:ext cx="128016" cy="566928"/>
          </a:xfrm>
          <a:prstGeom prst="rect">
            <a:avLst/>
          </a:prstGeom>
          <a:solidFill>
            <a:srgbClr val="2E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92608"/>
            <a:ext cx="1133856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2A44"/>
                </a:solidFill>
                <a:latin typeface="Microsoft YaHei"/>
                <a:ea typeface="Microsoft YaHei"/>
              </a:rPr>
              <a:t>谁在“免费”剪枝？实测只有最坏 3ⁿ 的 4×10⁻⁹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78408"/>
            <a:ext cx="1124712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B7280"/>
                </a:solidFill>
                <a:latin typeface="Microsoft YaHei"/>
                <a:ea typeface="Microsoft YaHei"/>
              </a:rPr>
              <a:t>冲突检查：一旦与已染色邻居冲突，整棵子树立刻放弃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554480"/>
          <a:ext cx="6949440" cy="46634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680960" y="1691640"/>
            <a:ext cx="4206240" cy="4480560"/>
          </a:xfrm>
          <a:prstGeom prst="roundRect">
            <a:avLst>
              <a:gd name="adj" fmla="val 2608"/>
            </a:avLst>
          </a:prstGeom>
          <a:solidFill>
            <a:srgbClr val="EEF2FA"/>
          </a:solidFill>
          <a:ln w="15875">
            <a:solidFill>
              <a:srgbClr val="D5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800" b="1">
                <a:solidFill>
                  <a:srgbClr val="1F2A44"/>
                </a:solidFill>
                <a:latin typeface="Microsoft YaHei"/>
                <a:ea typeface="Microsoft YaHei"/>
              </a:rPr>
              <a:t>n = 28</a:t>
            </a:r>
          </a:p>
          <a:p>
            <a:pPr algn="l"/>
            <a:r>
              <a:rPr sz="1800" b="0">
                <a:solidFill>
                  <a:srgbClr val="2B3245"/>
                </a:solidFill>
                <a:latin typeface="Microsoft YaHei"/>
                <a:ea typeface="Microsoft YaHei"/>
              </a:rPr>
              <a:t>3²⁸ ≈ 2.3 × 10¹³</a:t>
            </a:r>
          </a:p>
          <a:p>
            <a:pPr algn="l"/>
            <a:r>
              <a:rPr sz="1800" b="0">
                <a:solidFill>
                  <a:srgbClr val="2B3245"/>
                </a:solidFill>
                <a:latin typeface="Microsoft YaHei"/>
                <a:ea typeface="Microsoft YaHei"/>
              </a:rPr>
              <a:t>实测 ≈ 9.6 × 10⁴</a:t>
            </a:r>
          </a:p>
          <a:p>
            <a:pPr algn="l"/>
            <a:r>
              <a:rPr sz="1800" b="1">
                <a:solidFill>
                  <a:srgbClr val="2BA84A"/>
                </a:solidFill>
                <a:latin typeface="Microsoft YaHei"/>
                <a:ea typeface="Microsoft YaHei"/>
              </a:rPr>
              <a:t>仅为最坏情形的 ≈ 4 × 10⁻⁹</a:t>
            </a:r>
          </a:p>
          <a:p>
            <a:pPr algn="l"/>
            <a:r>
              <a:rPr sz="600" b="0">
                <a:solidFill>
                  <a:srgbClr val="2B3245"/>
                </a:solidFill>
                <a:latin typeface="Microsoft YaHei"/>
                <a:ea typeface="Microsoft YaHei"/>
              </a:rPr>
              <a:t> </a:t>
            </a:r>
          </a:p>
          <a:p>
            <a:pPr algn="l"/>
            <a:r>
              <a:rPr sz="1800" b="1">
                <a:solidFill>
                  <a:srgbClr val="1F2A44"/>
                </a:solidFill>
                <a:latin typeface="Microsoft YaHei"/>
                <a:ea typeface="Microsoft YaHei"/>
              </a:rPr>
              <a:t>剪枝来自哪里？</a:t>
            </a:r>
          </a:p>
          <a:p>
            <a:pPr algn="l"/>
            <a:r>
              <a:rPr sz="1600" b="0">
                <a:solidFill>
                  <a:srgbClr val="2B3245"/>
                </a:solidFill>
                <a:latin typeface="Microsoft YaHei"/>
                <a:ea typeface="Microsoft YaHei"/>
              </a:rPr>
              <a:t>每次尝试颜色都先检查已染色邻居；冲突 → 以该顶点为根的整棵子树不再展开</a:t>
            </a:r>
          </a:p>
          <a:p>
            <a:pPr algn="l"/>
            <a:r>
              <a:rPr sz="600" b="0">
                <a:solidFill>
                  <a:srgbClr val="2B3245"/>
                </a:solidFill>
                <a:latin typeface="Microsoft YaHei"/>
                <a:ea typeface="Microsoft YaHei"/>
              </a:rPr>
              <a:t> </a:t>
            </a:r>
          </a:p>
          <a:p>
            <a:pPr algn="l"/>
            <a:r>
              <a:rPr sz="1600" b="1">
                <a:solidFill>
                  <a:srgbClr val="D64545"/>
                </a:solidFill>
                <a:latin typeface="Microsoft YaHei"/>
                <a:ea typeface="Microsoft YaHei"/>
              </a:rPr>
              <a:t>但：底数从 3 降到约 1.43，增长仍是指数的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A5BD"/>
                </a:solidFill>
                <a:latin typeface="Microsoft YaHei"/>
                <a:ea typeface="Microsoft YaHei"/>
              </a:rPr>
              <a:t>图三染色 · Basic 展示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73952"/>
            <a:ext cx="10058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AA5BD"/>
                </a:solidFill>
                <a:latin typeface="Microsoft YaHei"/>
                <a:ea typeface="Microsoft YaHei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84048"/>
            <a:ext cx="128016" cy="566928"/>
          </a:xfrm>
          <a:prstGeom prst="rect">
            <a:avLst/>
          </a:prstGeom>
          <a:solidFill>
            <a:srgbClr val="2E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92608"/>
            <a:ext cx="1133856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2A44"/>
                </a:solidFill>
                <a:latin typeface="Microsoft YaHei"/>
                <a:ea typeface="Microsoft YaHei"/>
              </a:rPr>
              <a:t>难度先升后降：easy–hard–easy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78408"/>
            <a:ext cx="1124712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B7280"/>
                </a:solidFill>
                <a:latin typeface="Microsoft YaHei"/>
                <a:ea typeface="Microsoft YaHei"/>
              </a:rPr>
              <a:t>n = 30，每个平均度数 30 个随机实例，纵轴为朴素回溯的搜索节点数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554480"/>
          <a:ext cx="6858000" cy="47091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498079" y="1645920"/>
          <a:ext cx="4389120" cy="4059936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685800"/>
                <a:gridCol w="594360"/>
                <a:gridCol w="1051560"/>
                <a:gridCol w="1097280"/>
                <a:gridCol w="960120"/>
              </a:tblGrid>
              <a:tr h="33832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度数</a:t>
                      </a:r>
                    </a:p>
                  </a:txBody>
                  <a:tcPr anchor="ctr" marL="54864" marR="54864" marT="18288" marB="18288">
                    <a:lnL w="9525">
                      <a:solidFill>
                        <a:srgbClr val="D5DBE8"/>
                      </a:solidFill>
                    </a:lnL>
                    <a:lnR w="9525">
                      <a:solidFill>
                        <a:srgbClr val="D5DBE8"/>
                      </a:solidFill>
                    </a:lnR>
                    <a:lnT w="9525">
                      <a:solidFill>
                        <a:srgbClr val="D5DBE8"/>
                      </a:solidFill>
                    </a:lnT>
                    <a:lnB w="9525">
                      <a:solidFill>
                        <a:srgbClr val="D5DBE8"/>
                      </a:solidFill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m</a:t>
                      </a:r>
                    </a:p>
                  </a:txBody>
                  <a:tcPr anchor="ctr" marL="54864" marR="54864" marT="18288" marB="18288">
                    <a:lnL w="9525">
                      <a:solidFill>
                        <a:srgbClr val="D5DBE8"/>
                      </a:solidFill>
                    </a:lnL>
                    <a:lnR w="9525">
                      <a:solidFill>
                        <a:srgbClr val="D5DBE8"/>
                      </a:solidFill>
                    </a:lnR>
                    <a:lnT w="9525">
                      <a:solidFill>
                        <a:srgbClr val="D5DBE8"/>
                      </a:solidFill>
                    </a:lnT>
                    <a:lnB w="9525">
                      <a:solidFill>
                        <a:srgbClr val="D5DBE8"/>
                      </a:solidFill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均值</a:t>
                      </a:r>
                    </a:p>
                  </a:txBody>
                  <a:tcPr anchor="ctr" marL="54864" marR="54864" marT="18288" marB="18288">
                    <a:lnL w="9525">
                      <a:solidFill>
                        <a:srgbClr val="D5DBE8"/>
                      </a:solidFill>
                    </a:lnL>
                    <a:lnR w="9525">
                      <a:solidFill>
                        <a:srgbClr val="D5DBE8"/>
                      </a:solidFill>
                    </a:lnR>
                    <a:lnT w="9525">
                      <a:solidFill>
                        <a:srgbClr val="D5DBE8"/>
                      </a:solidFill>
                    </a:lnT>
                    <a:lnB w="9525">
                      <a:solidFill>
                        <a:srgbClr val="D5DBE8"/>
                      </a:solidFill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中位数</a:t>
                      </a:r>
                    </a:p>
                  </a:txBody>
                  <a:tcPr anchor="ctr" marL="54864" marR="54864" marT="18288" marB="18288">
                    <a:lnL w="9525">
                      <a:solidFill>
                        <a:srgbClr val="D5DBE8"/>
                      </a:solidFill>
                    </a:lnL>
                    <a:lnR w="9525">
                      <a:solidFill>
                        <a:srgbClr val="D5DBE8"/>
                      </a:solidFill>
                    </a:lnR>
                    <a:lnT w="9525">
                      <a:solidFill>
                        <a:srgbClr val="D5DBE8"/>
                      </a:solidFill>
                    </a:lnT>
                    <a:lnB w="9525">
                      <a:solidFill>
                        <a:srgbClr val="D5DBE8"/>
                      </a:solidFill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可三染色</a:t>
                      </a:r>
                    </a:p>
                  </a:txBody>
                  <a:tcPr anchor="ctr" marL="54864" marR="54864" marT="18288" marB="18288">
                    <a:lnL w="9525">
                      <a:solidFill>
                        <a:srgbClr val="D5DBE8"/>
                      </a:solidFill>
                    </a:lnL>
                    <a:lnR w="9525">
                      <a:solidFill>
                        <a:srgbClr val="D5DBE8"/>
                      </a:solidFill>
                    </a:lnR>
                    <a:lnT w="9525">
                      <a:solidFill>
                        <a:srgbClr val="D5DBE8"/>
                      </a:solidFill>
                    </a:lnT>
                    <a:lnB w="9525">
                      <a:solidFill>
                        <a:srgbClr val="D5DBE8"/>
                      </a:solidFill>
                    </a:lnB>
                    <a:solidFill>
                      <a:srgbClr val="1F2A44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B3245"/>
                          </a:solidFill>
                          <a:latin typeface="Microsoft YaHei"/>
                          <a:ea typeface="Microsoft YaHei"/>
                        </a:rPr>
                        <a:t>2</a:t>
                      </a:r>
                    </a:p>
                  </a:txBody>
                  <a:tcPr anchor="ctr" marL="54864" marR="54864" marT="18288" marB="18288">
                    <a:lnL w="9525">
                      <a:solidFill>
                        <a:srgbClr val="D5DBE8"/>
                      </a:solidFill>
                    </a:lnL>
                    <a:lnR w="9525">
                      <a:solidFill>
                        <a:srgbClr val="D5DBE8"/>
                      </a:solidFill>
                    </a:lnR>
                    <a:lnT w="9525">
                      <a:solidFill>
                        <a:srgbClr val="D5DBE8"/>
                      </a:solidFill>
                    </a:lnT>
                    <a:lnB w="9525">
                      <a:solidFill>
                        <a:srgbClr val="D5DB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B3245"/>
                          </a:solidFill>
                          <a:latin typeface="Microsoft YaHei"/>
                          <a:ea typeface="Microsoft YaHei"/>
                        </a:rPr>
                        <a:t>30</a:t>
                      </a:r>
                    </a:p>
                  </a:txBody>
                  <a:tcPr anchor="ctr" marL="54864" marR="54864" marT="18288" marB="18288">
                    <a:lnL w="9525">
                      <a:solidFill>
                        <a:srgbClr val="D5DBE8"/>
                      </a:solidFill>
                    </a:lnL>
                    <a:lnR w="9525">
                      <a:solidFill>
                        <a:srgbClr val="D5DBE8"/>
                      </a:solidFill>
                    </a:lnR>
                    <a:lnT w="9525">
                      <a:solidFill>
                        <a:srgbClr val="D5DBE8"/>
                      </a:solidFill>
                    </a:lnT>
                    <a:lnB w="9525">
                      <a:solidFill>
                        <a:srgbClr val="D5DB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B3245"/>
                          </a:solidFill>
                          <a:latin typeface="Microsoft YaHei"/>
                          <a:ea typeface="Microsoft YaHei"/>
                        </a:rPr>
                        <a:t>62,933</a:t>
                      </a:r>
                    </a:p>
                  </a:txBody>
                  <a:tcPr anchor="ctr" marL="54864" marR="54864" marT="18288" marB="18288">
                    <a:lnL w="9525">
                      <a:solidFill>
                        <a:srgbClr val="D5DBE8"/>
                      </a:solidFill>
                    </a:lnL>
                    <a:lnR w="9525">
                      <a:solidFill>
                        <a:srgbClr val="D5DBE8"/>
                      </a:solidFill>
                    </a:lnR>
                    <a:lnT w="9525">
                      <a:solidFill>
                        <a:srgbClr val="D5DBE8"/>
                      </a:solidFill>
                    </a:lnT>
                    <a:lnB w="9525">
                      <a:solidFill>
                        <a:srgbClr val="D5DB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B3245"/>
                          </a:solidFill>
                          <a:latin typeface="Microsoft YaHei"/>
                          <a:ea typeface="Microsoft YaHei"/>
                        </a:rPr>
                        <a:t>31</a:t>
                      </a:r>
                    </a:p>
                  </a:txBody>
                  <a:tcPr anchor="ctr" marL="54864" marR="54864" marT="18288" marB="18288">
                    <a:lnL w="9525">
                      <a:solidFill>
                        <a:srgbClr val="D5DBE8"/>
                      </a:solidFill>
                    </a:lnL>
                    <a:lnR w="9525">
                      <a:solidFill>
                        <a:srgbClr val="D5DBE8"/>
                      </a:solidFill>
                    </a:lnR>
                    <a:lnT w="9525">
                      <a:solidFill>
                        <a:srgbClr val="D5DBE8"/>
                      </a:solidFill>
                    </a:lnT>
                    <a:lnB w="9525">
                      <a:solidFill>
                        <a:srgbClr val="D5DB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B3245"/>
                          </a:solidFill>
                          <a:latin typeface="Microsoft YaHei"/>
                          <a:ea typeface="Microsoft YaHei"/>
                        </a:rPr>
                        <a:t>30/30</a:t>
                      </a:r>
                    </a:p>
                  </a:txBody>
                  <a:tcPr anchor="ctr" marL="54864" marR="54864" marT="18288" marB="18288">
                    <a:lnL w="9525">
                      <a:solidFill>
                        <a:srgbClr val="D5DBE8"/>
                      </a:solidFill>
                    </a:lnL>
                    <a:lnR w="9525">
                      <a:solidFill>
                        <a:srgbClr val="D5DBE8"/>
                      </a:solidFill>
                    </a:lnR>
                    <a:lnT w="9525">
                      <a:solidFill>
                        <a:srgbClr val="D5DBE8"/>
                      </a:solidFill>
                    </a:lnT>
                    <a:lnB w="9525">
                      <a:solidFill>
                        <a:srgbClr val="D5DB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B3245"/>
                          </a:solidFill>
                          <a:latin typeface="Microsoft YaHei"/>
                          <a:ea typeface="Microsoft YaHei"/>
                        </a:rPr>
                        <a:t>3</a:t>
                      </a:r>
                    </a:p>
                  </a:txBody>
                  <a:tcPr anchor="ctr" marL="54864" marR="54864" marT="18288" marB="18288">
                    <a:lnL w="9525">
                      <a:solidFill>
                        <a:srgbClr val="D5DBE8"/>
                      </a:solidFill>
                    </a:lnL>
                    <a:lnR w="9525">
                      <a:solidFill>
                        <a:srgbClr val="D5DBE8"/>
                      </a:solidFill>
                    </a:lnR>
                    <a:lnT w="9525">
                      <a:solidFill>
                        <a:srgbClr val="D5DBE8"/>
                      </a:solidFill>
                    </a:lnT>
                    <a:lnB w="9525">
                      <a:solidFill>
                        <a:srgbClr val="D5DBE8"/>
                      </a:solidFill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B3245"/>
                          </a:solidFill>
                          <a:latin typeface="Microsoft YaHei"/>
                          <a:ea typeface="Microsoft YaHei"/>
                        </a:rPr>
                        <a:t>45</a:t>
                      </a:r>
                    </a:p>
                  </a:txBody>
                  <a:tcPr anchor="ctr" marL="54864" marR="54864" marT="18288" marB="18288">
                    <a:lnL w="9525">
                      <a:solidFill>
                        <a:srgbClr val="D5DBE8"/>
                      </a:solidFill>
                    </a:lnL>
                    <a:lnR w="9525">
                      <a:solidFill>
                        <a:srgbClr val="D5DBE8"/>
                      </a:solidFill>
                    </a:lnR>
                    <a:lnT w="9525">
                      <a:solidFill>
                        <a:srgbClr val="D5DBE8"/>
                      </a:solidFill>
                    </a:lnT>
                    <a:lnB w="9525">
                      <a:solidFill>
                        <a:srgbClr val="D5DBE8"/>
                      </a:solidFill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B3245"/>
                          </a:solidFill>
                          <a:latin typeface="Microsoft YaHei"/>
                          <a:ea typeface="Microsoft YaHei"/>
                        </a:rPr>
                        <a:t>350,676</a:t>
                      </a:r>
                    </a:p>
                  </a:txBody>
                  <a:tcPr anchor="ctr" marL="54864" marR="54864" marT="18288" marB="18288">
                    <a:lnL w="9525">
                      <a:solidFill>
                        <a:srgbClr val="D5DBE8"/>
                      </a:solidFill>
                    </a:lnL>
                    <a:lnR w="9525">
                      <a:solidFill>
                        <a:srgbClr val="D5DBE8"/>
                      </a:solidFill>
                    </a:lnR>
                    <a:lnT w="9525">
                      <a:solidFill>
                        <a:srgbClr val="D5DBE8"/>
                      </a:solidFill>
                    </a:lnT>
                    <a:lnB w="9525">
                      <a:solidFill>
                        <a:srgbClr val="D5DBE8"/>
                      </a:solidFill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B3245"/>
                          </a:solidFill>
                          <a:latin typeface="Microsoft YaHei"/>
                          <a:ea typeface="Microsoft YaHei"/>
                        </a:rPr>
                        <a:t>582</a:t>
                      </a:r>
                    </a:p>
                  </a:txBody>
                  <a:tcPr anchor="ctr" marL="54864" marR="54864" marT="18288" marB="18288">
                    <a:lnL w="9525">
                      <a:solidFill>
                        <a:srgbClr val="D5DBE8"/>
                      </a:solidFill>
                    </a:lnL>
                    <a:lnR w="9525">
                      <a:solidFill>
                        <a:srgbClr val="D5DBE8"/>
                      </a:solidFill>
                    </a:lnR>
                    <a:lnT w="9525">
                      <a:solidFill>
                        <a:srgbClr val="D5DBE8"/>
                      </a:solidFill>
                    </a:lnT>
                    <a:lnB w="9525">
                      <a:solidFill>
                        <a:srgbClr val="D5DBE8"/>
                      </a:solidFill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B3245"/>
                          </a:solidFill>
                          <a:latin typeface="Microsoft YaHei"/>
                          <a:ea typeface="Microsoft YaHei"/>
                        </a:rPr>
                        <a:t>29/30</a:t>
                      </a:r>
                    </a:p>
                  </a:txBody>
                  <a:tcPr anchor="ctr" marL="54864" marR="54864" marT="18288" marB="18288">
                    <a:lnL w="9525">
                      <a:solidFill>
                        <a:srgbClr val="D5DBE8"/>
                      </a:solidFill>
                    </a:lnL>
                    <a:lnR w="9525">
                      <a:solidFill>
                        <a:srgbClr val="D5DBE8"/>
                      </a:solidFill>
                    </a:lnR>
                    <a:lnT w="9525">
                      <a:solidFill>
                        <a:srgbClr val="D5DBE8"/>
                      </a:solidFill>
                    </a:lnT>
                    <a:lnB w="9525">
                      <a:solidFill>
                        <a:srgbClr val="D5DBE8"/>
                      </a:solidFill>
                    </a:lnB>
                    <a:solidFill>
                      <a:srgbClr val="F4F6F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B3245"/>
                          </a:solidFill>
                          <a:latin typeface="Microsoft YaHei"/>
                          <a:ea typeface="Microsoft YaHei"/>
                        </a:rPr>
                        <a:t>3.5</a:t>
                      </a:r>
                    </a:p>
                  </a:txBody>
                  <a:tcPr anchor="ctr" marL="54864" marR="54864" marT="18288" marB="18288">
                    <a:lnL w="9525">
                      <a:solidFill>
                        <a:srgbClr val="D5DBE8"/>
                      </a:solidFill>
                    </a:lnL>
                    <a:lnR w="9525">
                      <a:solidFill>
                        <a:srgbClr val="D5DBE8"/>
                      </a:solidFill>
                    </a:lnR>
                    <a:lnT w="9525">
                      <a:solidFill>
                        <a:srgbClr val="D5DBE8"/>
                      </a:solidFill>
                    </a:lnT>
                    <a:lnB w="9525">
                      <a:solidFill>
                        <a:srgbClr val="D5DB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B3245"/>
                          </a:solidFill>
                          <a:latin typeface="Microsoft YaHei"/>
                          <a:ea typeface="Microsoft YaHei"/>
                        </a:rPr>
                        <a:t>52</a:t>
                      </a:r>
                    </a:p>
                  </a:txBody>
                  <a:tcPr anchor="ctr" marL="54864" marR="54864" marT="18288" marB="18288">
                    <a:lnL w="9525">
                      <a:solidFill>
                        <a:srgbClr val="D5DBE8"/>
                      </a:solidFill>
                    </a:lnL>
                    <a:lnR w="9525">
                      <a:solidFill>
                        <a:srgbClr val="D5DBE8"/>
                      </a:solidFill>
                    </a:lnR>
                    <a:lnT w="9525">
                      <a:solidFill>
                        <a:srgbClr val="D5DBE8"/>
                      </a:solidFill>
                    </a:lnT>
                    <a:lnB w="9525">
                      <a:solidFill>
                        <a:srgbClr val="D5DB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B3245"/>
                          </a:solidFill>
                          <a:latin typeface="Microsoft YaHei"/>
                          <a:ea typeface="Microsoft YaHei"/>
                        </a:rPr>
                        <a:t>377,192</a:t>
                      </a:r>
                    </a:p>
                  </a:txBody>
                  <a:tcPr anchor="ctr" marL="54864" marR="54864" marT="18288" marB="18288">
                    <a:lnL w="9525">
                      <a:solidFill>
                        <a:srgbClr val="D5DBE8"/>
                      </a:solidFill>
                    </a:lnL>
                    <a:lnR w="9525">
                      <a:solidFill>
                        <a:srgbClr val="D5DBE8"/>
                      </a:solidFill>
                    </a:lnR>
                    <a:lnT w="9525">
                      <a:solidFill>
                        <a:srgbClr val="D5DBE8"/>
                      </a:solidFill>
                    </a:lnT>
                    <a:lnB w="9525">
                      <a:solidFill>
                        <a:srgbClr val="D5DB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B3245"/>
                          </a:solidFill>
                          <a:latin typeface="Microsoft YaHei"/>
                          <a:ea typeface="Microsoft YaHei"/>
                        </a:rPr>
                        <a:t>30,306</a:t>
                      </a:r>
                    </a:p>
                  </a:txBody>
                  <a:tcPr anchor="ctr" marL="54864" marR="54864" marT="18288" marB="18288">
                    <a:lnL w="9525">
                      <a:solidFill>
                        <a:srgbClr val="D5DBE8"/>
                      </a:solidFill>
                    </a:lnL>
                    <a:lnR w="9525">
                      <a:solidFill>
                        <a:srgbClr val="D5DBE8"/>
                      </a:solidFill>
                    </a:lnR>
                    <a:lnT w="9525">
                      <a:solidFill>
                        <a:srgbClr val="D5DBE8"/>
                      </a:solidFill>
                    </a:lnT>
                    <a:lnB w="9525">
                      <a:solidFill>
                        <a:srgbClr val="D5DB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B3245"/>
                          </a:solidFill>
                          <a:latin typeface="Microsoft YaHei"/>
                          <a:ea typeface="Microsoft YaHei"/>
                        </a:rPr>
                        <a:t>26/30</a:t>
                      </a:r>
                    </a:p>
                  </a:txBody>
                  <a:tcPr anchor="ctr" marL="54864" marR="54864" marT="18288" marB="18288">
                    <a:lnL w="9525">
                      <a:solidFill>
                        <a:srgbClr val="D5DBE8"/>
                      </a:solidFill>
                    </a:lnL>
                    <a:lnR w="9525">
                      <a:solidFill>
                        <a:srgbClr val="D5DBE8"/>
                      </a:solidFill>
                    </a:lnR>
                    <a:lnT w="9525">
                      <a:solidFill>
                        <a:srgbClr val="D5DBE8"/>
                      </a:solidFill>
                    </a:lnT>
                    <a:lnB w="9525">
                      <a:solidFill>
                        <a:srgbClr val="D5DB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B3245"/>
                          </a:solidFill>
                          <a:latin typeface="Microsoft YaHei"/>
                          <a:ea typeface="Microsoft YaHei"/>
                        </a:rPr>
                        <a:t>4</a:t>
                      </a:r>
                    </a:p>
                  </a:txBody>
                  <a:tcPr anchor="ctr" marL="54864" marR="54864" marT="18288" marB="18288">
                    <a:lnL w="9525">
                      <a:solidFill>
                        <a:srgbClr val="D5DBE8"/>
                      </a:solidFill>
                    </a:lnL>
                    <a:lnR w="9525">
                      <a:solidFill>
                        <a:srgbClr val="D5DBE8"/>
                      </a:solidFill>
                    </a:lnR>
                    <a:lnT w="9525">
                      <a:solidFill>
                        <a:srgbClr val="D5DBE8"/>
                      </a:solidFill>
                    </a:lnT>
                    <a:lnB w="9525">
                      <a:solidFill>
                        <a:srgbClr val="D5DBE8"/>
                      </a:solidFill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B3245"/>
                          </a:solidFill>
                          <a:latin typeface="Microsoft YaHei"/>
                          <a:ea typeface="Microsoft YaHei"/>
                        </a:rPr>
                        <a:t>60</a:t>
                      </a:r>
                    </a:p>
                  </a:txBody>
                  <a:tcPr anchor="ctr" marL="54864" marR="54864" marT="18288" marB="18288">
                    <a:lnL w="9525">
                      <a:solidFill>
                        <a:srgbClr val="D5DBE8"/>
                      </a:solidFill>
                    </a:lnL>
                    <a:lnR w="9525">
                      <a:solidFill>
                        <a:srgbClr val="D5DBE8"/>
                      </a:solidFill>
                    </a:lnR>
                    <a:lnT w="9525">
                      <a:solidFill>
                        <a:srgbClr val="D5DBE8"/>
                      </a:solidFill>
                    </a:lnT>
                    <a:lnB w="9525">
                      <a:solidFill>
                        <a:srgbClr val="D5DBE8"/>
                      </a:solidFill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B3245"/>
                          </a:solidFill>
                          <a:latin typeface="Microsoft YaHei"/>
                          <a:ea typeface="Microsoft YaHei"/>
                        </a:rPr>
                        <a:t>498,552</a:t>
                      </a:r>
                    </a:p>
                  </a:txBody>
                  <a:tcPr anchor="ctr" marL="54864" marR="54864" marT="18288" marB="18288">
                    <a:lnL w="9525">
                      <a:solidFill>
                        <a:srgbClr val="D5DBE8"/>
                      </a:solidFill>
                    </a:lnL>
                    <a:lnR w="9525">
                      <a:solidFill>
                        <a:srgbClr val="D5DBE8"/>
                      </a:solidFill>
                    </a:lnR>
                    <a:lnT w="9525">
                      <a:solidFill>
                        <a:srgbClr val="D5DBE8"/>
                      </a:solidFill>
                    </a:lnT>
                    <a:lnB w="9525">
                      <a:solidFill>
                        <a:srgbClr val="D5DBE8"/>
                      </a:solidFill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B3245"/>
                          </a:solidFill>
                          <a:latin typeface="Microsoft YaHei"/>
                          <a:ea typeface="Microsoft YaHei"/>
                        </a:rPr>
                        <a:t>33,835</a:t>
                      </a:r>
                    </a:p>
                  </a:txBody>
                  <a:tcPr anchor="ctr" marL="54864" marR="54864" marT="18288" marB="18288">
                    <a:lnL w="9525">
                      <a:solidFill>
                        <a:srgbClr val="D5DBE8"/>
                      </a:solidFill>
                    </a:lnL>
                    <a:lnR w="9525">
                      <a:solidFill>
                        <a:srgbClr val="D5DBE8"/>
                      </a:solidFill>
                    </a:lnR>
                    <a:lnT w="9525">
                      <a:solidFill>
                        <a:srgbClr val="D5DBE8"/>
                      </a:solidFill>
                    </a:lnT>
                    <a:lnB w="9525">
                      <a:solidFill>
                        <a:srgbClr val="D5DBE8"/>
                      </a:solidFill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B3245"/>
                          </a:solidFill>
                          <a:latin typeface="Microsoft YaHei"/>
                          <a:ea typeface="Microsoft YaHei"/>
                        </a:rPr>
                        <a:t>17/30</a:t>
                      </a:r>
                    </a:p>
                  </a:txBody>
                  <a:tcPr anchor="ctr" marL="54864" marR="54864" marT="18288" marB="18288">
                    <a:lnL w="9525">
                      <a:solidFill>
                        <a:srgbClr val="D5DBE8"/>
                      </a:solidFill>
                    </a:lnL>
                    <a:lnR w="9525">
                      <a:solidFill>
                        <a:srgbClr val="D5DBE8"/>
                      </a:solidFill>
                    </a:lnR>
                    <a:lnT w="9525">
                      <a:solidFill>
                        <a:srgbClr val="D5DBE8"/>
                      </a:solidFill>
                    </a:lnT>
                    <a:lnB w="9525">
                      <a:solidFill>
                        <a:srgbClr val="D5DBE8"/>
                      </a:solidFill>
                    </a:lnB>
                    <a:solidFill>
                      <a:srgbClr val="F4F6F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B3245"/>
                          </a:solidFill>
                          <a:latin typeface="Microsoft YaHei"/>
                          <a:ea typeface="Microsoft YaHei"/>
                        </a:rPr>
                        <a:t>4.5</a:t>
                      </a:r>
                    </a:p>
                  </a:txBody>
                  <a:tcPr anchor="ctr" marL="54864" marR="54864" marT="18288" marB="18288">
                    <a:lnL w="9525">
                      <a:solidFill>
                        <a:srgbClr val="D5DBE8"/>
                      </a:solidFill>
                    </a:lnL>
                    <a:lnR w="9525">
                      <a:solidFill>
                        <a:srgbClr val="D5DBE8"/>
                      </a:solidFill>
                    </a:lnR>
                    <a:lnT w="9525">
                      <a:solidFill>
                        <a:srgbClr val="D5DBE8"/>
                      </a:solidFill>
                    </a:lnT>
                    <a:lnB w="9525">
                      <a:solidFill>
                        <a:srgbClr val="D5DB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B3245"/>
                          </a:solidFill>
                          <a:latin typeface="Microsoft YaHei"/>
                          <a:ea typeface="Microsoft YaHei"/>
                        </a:rPr>
                        <a:t>68</a:t>
                      </a:r>
                    </a:p>
                  </a:txBody>
                  <a:tcPr anchor="ctr" marL="54864" marR="54864" marT="18288" marB="18288">
                    <a:lnL w="9525">
                      <a:solidFill>
                        <a:srgbClr val="D5DBE8"/>
                      </a:solidFill>
                    </a:lnL>
                    <a:lnR w="9525">
                      <a:solidFill>
                        <a:srgbClr val="D5DBE8"/>
                      </a:solidFill>
                    </a:lnR>
                    <a:lnT w="9525">
                      <a:solidFill>
                        <a:srgbClr val="D5DBE8"/>
                      </a:solidFill>
                    </a:lnT>
                    <a:lnB w="9525">
                      <a:solidFill>
                        <a:srgbClr val="D5DB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B3245"/>
                          </a:solidFill>
                          <a:latin typeface="Microsoft YaHei"/>
                          <a:ea typeface="Microsoft YaHei"/>
                        </a:rPr>
                        <a:t>284,712</a:t>
                      </a:r>
                    </a:p>
                  </a:txBody>
                  <a:tcPr anchor="ctr" marL="54864" marR="54864" marT="18288" marB="18288">
                    <a:lnL w="9525">
                      <a:solidFill>
                        <a:srgbClr val="D5DBE8"/>
                      </a:solidFill>
                    </a:lnL>
                    <a:lnR w="9525">
                      <a:solidFill>
                        <a:srgbClr val="D5DBE8"/>
                      </a:solidFill>
                    </a:lnR>
                    <a:lnT w="9525">
                      <a:solidFill>
                        <a:srgbClr val="D5DBE8"/>
                      </a:solidFill>
                    </a:lnT>
                    <a:lnB w="9525">
                      <a:solidFill>
                        <a:srgbClr val="D5DB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B3245"/>
                          </a:solidFill>
                          <a:latin typeface="Microsoft YaHei"/>
                          <a:ea typeface="Microsoft YaHei"/>
                        </a:rPr>
                        <a:t>116,157</a:t>
                      </a:r>
                    </a:p>
                  </a:txBody>
                  <a:tcPr anchor="ctr" marL="54864" marR="54864" marT="18288" marB="18288">
                    <a:lnL w="9525">
                      <a:solidFill>
                        <a:srgbClr val="D5DBE8"/>
                      </a:solidFill>
                    </a:lnL>
                    <a:lnR w="9525">
                      <a:solidFill>
                        <a:srgbClr val="D5DBE8"/>
                      </a:solidFill>
                    </a:lnR>
                    <a:lnT w="9525">
                      <a:solidFill>
                        <a:srgbClr val="D5DBE8"/>
                      </a:solidFill>
                    </a:lnT>
                    <a:lnB w="9525">
                      <a:solidFill>
                        <a:srgbClr val="D5DB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B3245"/>
                          </a:solidFill>
                          <a:latin typeface="Microsoft YaHei"/>
                          <a:ea typeface="Microsoft YaHei"/>
                        </a:rPr>
                        <a:t>6/30</a:t>
                      </a:r>
                    </a:p>
                  </a:txBody>
                  <a:tcPr anchor="ctr" marL="54864" marR="54864" marT="18288" marB="18288">
                    <a:lnL w="9525">
                      <a:solidFill>
                        <a:srgbClr val="D5DBE8"/>
                      </a:solidFill>
                    </a:lnL>
                    <a:lnR w="9525">
                      <a:solidFill>
                        <a:srgbClr val="D5DBE8"/>
                      </a:solidFill>
                    </a:lnR>
                    <a:lnT w="9525">
                      <a:solidFill>
                        <a:srgbClr val="D5DBE8"/>
                      </a:solidFill>
                    </a:lnT>
                    <a:lnB w="9525">
                      <a:solidFill>
                        <a:srgbClr val="D5DB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B3245"/>
                          </a:solidFill>
                          <a:latin typeface="Microsoft YaHei"/>
                          <a:ea typeface="Microsoft YaHei"/>
                        </a:rPr>
                        <a:t>4.7</a:t>
                      </a:r>
                    </a:p>
                  </a:txBody>
                  <a:tcPr anchor="ctr" marL="54864" marR="54864" marT="18288" marB="18288">
                    <a:lnL w="9525">
                      <a:solidFill>
                        <a:srgbClr val="D5DBE8"/>
                      </a:solidFill>
                    </a:lnL>
                    <a:lnR w="9525">
                      <a:solidFill>
                        <a:srgbClr val="D5DBE8"/>
                      </a:solidFill>
                    </a:lnR>
                    <a:lnT w="9525">
                      <a:solidFill>
                        <a:srgbClr val="D5DBE8"/>
                      </a:solidFill>
                    </a:lnT>
                    <a:lnB w="9525">
                      <a:solidFill>
                        <a:srgbClr val="D5DBE8"/>
                      </a:solidFill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B3245"/>
                          </a:solidFill>
                          <a:latin typeface="Microsoft YaHei"/>
                          <a:ea typeface="Microsoft YaHei"/>
                        </a:rPr>
                        <a:t>70</a:t>
                      </a:r>
                    </a:p>
                  </a:txBody>
                  <a:tcPr anchor="ctr" marL="54864" marR="54864" marT="18288" marB="18288">
                    <a:lnL w="9525">
                      <a:solidFill>
                        <a:srgbClr val="D5DBE8"/>
                      </a:solidFill>
                    </a:lnL>
                    <a:lnR w="9525">
                      <a:solidFill>
                        <a:srgbClr val="D5DBE8"/>
                      </a:solidFill>
                    </a:lnR>
                    <a:lnT w="9525">
                      <a:solidFill>
                        <a:srgbClr val="D5DBE8"/>
                      </a:solidFill>
                    </a:lnT>
                    <a:lnB w="9525">
                      <a:solidFill>
                        <a:srgbClr val="D5DBE8"/>
                      </a:solidFill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B3245"/>
                          </a:solidFill>
                          <a:latin typeface="Microsoft YaHei"/>
                          <a:ea typeface="Microsoft YaHei"/>
                        </a:rPr>
                        <a:t>235,256</a:t>
                      </a:r>
                    </a:p>
                  </a:txBody>
                  <a:tcPr anchor="ctr" marL="54864" marR="54864" marT="18288" marB="18288">
                    <a:lnL w="9525">
                      <a:solidFill>
                        <a:srgbClr val="D5DBE8"/>
                      </a:solidFill>
                    </a:lnL>
                    <a:lnR w="9525">
                      <a:solidFill>
                        <a:srgbClr val="D5DBE8"/>
                      </a:solidFill>
                    </a:lnR>
                    <a:lnT w="9525">
                      <a:solidFill>
                        <a:srgbClr val="D5DBE8"/>
                      </a:solidFill>
                    </a:lnT>
                    <a:lnB w="9525">
                      <a:solidFill>
                        <a:srgbClr val="D5DBE8"/>
                      </a:solidFill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B3245"/>
                          </a:solidFill>
                          <a:latin typeface="Microsoft YaHei"/>
                          <a:ea typeface="Microsoft YaHei"/>
                        </a:rPr>
                        <a:t>92,772</a:t>
                      </a:r>
                    </a:p>
                  </a:txBody>
                  <a:tcPr anchor="ctr" marL="54864" marR="54864" marT="18288" marB="18288">
                    <a:lnL w="9525">
                      <a:solidFill>
                        <a:srgbClr val="D5DBE8"/>
                      </a:solidFill>
                    </a:lnL>
                    <a:lnR w="9525">
                      <a:solidFill>
                        <a:srgbClr val="D5DBE8"/>
                      </a:solidFill>
                    </a:lnR>
                    <a:lnT w="9525">
                      <a:solidFill>
                        <a:srgbClr val="D5DBE8"/>
                      </a:solidFill>
                    </a:lnT>
                    <a:lnB w="9525">
                      <a:solidFill>
                        <a:srgbClr val="D5DBE8"/>
                      </a:solidFill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B3245"/>
                          </a:solidFill>
                          <a:latin typeface="Microsoft YaHei"/>
                          <a:ea typeface="Microsoft YaHei"/>
                        </a:rPr>
                        <a:t>4/30</a:t>
                      </a:r>
                    </a:p>
                  </a:txBody>
                  <a:tcPr anchor="ctr" marL="54864" marR="54864" marT="18288" marB="18288">
                    <a:lnL w="9525">
                      <a:solidFill>
                        <a:srgbClr val="D5DBE8"/>
                      </a:solidFill>
                    </a:lnL>
                    <a:lnR w="9525">
                      <a:solidFill>
                        <a:srgbClr val="D5DBE8"/>
                      </a:solidFill>
                    </a:lnR>
                    <a:lnT w="9525">
                      <a:solidFill>
                        <a:srgbClr val="D5DBE8"/>
                      </a:solidFill>
                    </a:lnT>
                    <a:lnB w="9525">
                      <a:solidFill>
                        <a:srgbClr val="D5DBE8"/>
                      </a:solidFill>
                    </a:lnB>
                    <a:solidFill>
                      <a:srgbClr val="F4F6F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B3245"/>
                          </a:solidFill>
                          <a:latin typeface="Microsoft YaHei"/>
                          <a:ea typeface="Microsoft YaHei"/>
                        </a:rPr>
                        <a:t>5</a:t>
                      </a:r>
                    </a:p>
                  </a:txBody>
                  <a:tcPr anchor="ctr" marL="54864" marR="54864" marT="18288" marB="18288">
                    <a:lnL w="9525">
                      <a:solidFill>
                        <a:srgbClr val="D5DBE8"/>
                      </a:solidFill>
                    </a:lnL>
                    <a:lnR w="9525">
                      <a:solidFill>
                        <a:srgbClr val="D5DBE8"/>
                      </a:solidFill>
                    </a:lnR>
                    <a:lnT w="9525">
                      <a:solidFill>
                        <a:srgbClr val="D5DBE8"/>
                      </a:solidFill>
                    </a:lnT>
                    <a:lnB w="9525">
                      <a:solidFill>
                        <a:srgbClr val="D5DB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B3245"/>
                          </a:solidFill>
                          <a:latin typeface="Microsoft YaHei"/>
                          <a:ea typeface="Microsoft YaHei"/>
                        </a:rPr>
                        <a:t>75</a:t>
                      </a:r>
                    </a:p>
                  </a:txBody>
                  <a:tcPr anchor="ctr" marL="54864" marR="54864" marT="18288" marB="18288">
                    <a:lnL w="9525">
                      <a:solidFill>
                        <a:srgbClr val="D5DBE8"/>
                      </a:solidFill>
                    </a:lnL>
                    <a:lnR w="9525">
                      <a:solidFill>
                        <a:srgbClr val="D5DBE8"/>
                      </a:solidFill>
                    </a:lnR>
                    <a:lnT w="9525">
                      <a:solidFill>
                        <a:srgbClr val="D5DBE8"/>
                      </a:solidFill>
                    </a:lnT>
                    <a:lnB w="9525">
                      <a:solidFill>
                        <a:srgbClr val="D5DB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B3245"/>
                          </a:solidFill>
                          <a:latin typeface="Microsoft YaHei"/>
                          <a:ea typeface="Microsoft YaHei"/>
                        </a:rPr>
                        <a:t>107,322</a:t>
                      </a:r>
                    </a:p>
                  </a:txBody>
                  <a:tcPr anchor="ctr" marL="54864" marR="54864" marT="18288" marB="18288">
                    <a:lnL w="9525">
                      <a:solidFill>
                        <a:srgbClr val="D5DBE8"/>
                      </a:solidFill>
                    </a:lnL>
                    <a:lnR w="9525">
                      <a:solidFill>
                        <a:srgbClr val="D5DBE8"/>
                      </a:solidFill>
                    </a:lnR>
                    <a:lnT w="9525">
                      <a:solidFill>
                        <a:srgbClr val="D5DBE8"/>
                      </a:solidFill>
                    </a:lnT>
                    <a:lnB w="9525">
                      <a:solidFill>
                        <a:srgbClr val="D5DB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B3245"/>
                          </a:solidFill>
                          <a:latin typeface="Microsoft YaHei"/>
                          <a:ea typeface="Microsoft YaHei"/>
                        </a:rPr>
                        <a:t>73,174</a:t>
                      </a:r>
                    </a:p>
                  </a:txBody>
                  <a:tcPr anchor="ctr" marL="54864" marR="54864" marT="18288" marB="18288">
                    <a:lnL w="9525">
                      <a:solidFill>
                        <a:srgbClr val="D5DBE8"/>
                      </a:solidFill>
                    </a:lnL>
                    <a:lnR w="9525">
                      <a:solidFill>
                        <a:srgbClr val="D5DBE8"/>
                      </a:solidFill>
                    </a:lnR>
                    <a:lnT w="9525">
                      <a:solidFill>
                        <a:srgbClr val="D5DBE8"/>
                      </a:solidFill>
                    </a:lnT>
                    <a:lnB w="9525">
                      <a:solidFill>
                        <a:srgbClr val="D5DB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B3245"/>
                          </a:solidFill>
                          <a:latin typeface="Microsoft YaHei"/>
                          <a:ea typeface="Microsoft YaHei"/>
                        </a:rPr>
                        <a:t>1/30</a:t>
                      </a:r>
                    </a:p>
                  </a:txBody>
                  <a:tcPr anchor="ctr" marL="54864" marR="54864" marT="18288" marB="18288">
                    <a:lnL w="9525">
                      <a:solidFill>
                        <a:srgbClr val="D5DBE8"/>
                      </a:solidFill>
                    </a:lnL>
                    <a:lnR w="9525">
                      <a:solidFill>
                        <a:srgbClr val="D5DBE8"/>
                      </a:solidFill>
                    </a:lnR>
                    <a:lnT w="9525">
                      <a:solidFill>
                        <a:srgbClr val="D5DBE8"/>
                      </a:solidFill>
                    </a:lnT>
                    <a:lnB w="9525">
                      <a:solidFill>
                        <a:srgbClr val="D5DB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B3245"/>
                          </a:solidFill>
                          <a:latin typeface="Microsoft YaHei"/>
                          <a:ea typeface="Microsoft YaHei"/>
                        </a:rPr>
                        <a:t>5.5</a:t>
                      </a:r>
                    </a:p>
                  </a:txBody>
                  <a:tcPr anchor="ctr" marL="54864" marR="54864" marT="18288" marB="18288">
                    <a:lnL w="9525">
                      <a:solidFill>
                        <a:srgbClr val="D5DBE8"/>
                      </a:solidFill>
                    </a:lnL>
                    <a:lnR w="9525">
                      <a:solidFill>
                        <a:srgbClr val="D5DBE8"/>
                      </a:solidFill>
                    </a:lnR>
                    <a:lnT w="9525">
                      <a:solidFill>
                        <a:srgbClr val="D5DBE8"/>
                      </a:solidFill>
                    </a:lnT>
                    <a:lnB w="9525">
                      <a:solidFill>
                        <a:srgbClr val="D5DBE8"/>
                      </a:solidFill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B3245"/>
                          </a:solidFill>
                          <a:latin typeface="Microsoft YaHei"/>
                          <a:ea typeface="Microsoft YaHei"/>
                        </a:rPr>
                        <a:t>82</a:t>
                      </a:r>
                    </a:p>
                  </a:txBody>
                  <a:tcPr anchor="ctr" marL="54864" marR="54864" marT="18288" marB="18288">
                    <a:lnL w="9525">
                      <a:solidFill>
                        <a:srgbClr val="D5DBE8"/>
                      </a:solidFill>
                    </a:lnL>
                    <a:lnR w="9525">
                      <a:solidFill>
                        <a:srgbClr val="D5DBE8"/>
                      </a:solidFill>
                    </a:lnR>
                    <a:lnT w="9525">
                      <a:solidFill>
                        <a:srgbClr val="D5DBE8"/>
                      </a:solidFill>
                    </a:lnT>
                    <a:lnB w="9525">
                      <a:solidFill>
                        <a:srgbClr val="D5DBE8"/>
                      </a:solidFill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B3245"/>
                          </a:solidFill>
                          <a:latin typeface="Microsoft YaHei"/>
                          <a:ea typeface="Microsoft YaHei"/>
                        </a:rPr>
                        <a:t>48,850</a:t>
                      </a:r>
                    </a:p>
                  </a:txBody>
                  <a:tcPr anchor="ctr" marL="54864" marR="54864" marT="18288" marB="18288">
                    <a:lnL w="9525">
                      <a:solidFill>
                        <a:srgbClr val="D5DBE8"/>
                      </a:solidFill>
                    </a:lnL>
                    <a:lnR w="9525">
                      <a:solidFill>
                        <a:srgbClr val="D5DBE8"/>
                      </a:solidFill>
                    </a:lnR>
                    <a:lnT w="9525">
                      <a:solidFill>
                        <a:srgbClr val="D5DBE8"/>
                      </a:solidFill>
                    </a:lnT>
                    <a:lnB w="9525">
                      <a:solidFill>
                        <a:srgbClr val="D5DBE8"/>
                      </a:solidFill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B3245"/>
                          </a:solidFill>
                          <a:latin typeface="Microsoft YaHei"/>
                          <a:ea typeface="Microsoft YaHei"/>
                        </a:rPr>
                        <a:t>29,707</a:t>
                      </a:r>
                    </a:p>
                  </a:txBody>
                  <a:tcPr anchor="ctr" marL="54864" marR="54864" marT="18288" marB="18288">
                    <a:lnL w="9525">
                      <a:solidFill>
                        <a:srgbClr val="D5DBE8"/>
                      </a:solidFill>
                    </a:lnL>
                    <a:lnR w="9525">
                      <a:solidFill>
                        <a:srgbClr val="D5DBE8"/>
                      </a:solidFill>
                    </a:lnR>
                    <a:lnT w="9525">
                      <a:solidFill>
                        <a:srgbClr val="D5DBE8"/>
                      </a:solidFill>
                    </a:lnT>
                    <a:lnB w="9525">
                      <a:solidFill>
                        <a:srgbClr val="D5DBE8"/>
                      </a:solidFill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B3245"/>
                          </a:solidFill>
                          <a:latin typeface="Microsoft YaHei"/>
                          <a:ea typeface="Microsoft YaHei"/>
                        </a:rPr>
                        <a:t>0/30</a:t>
                      </a:r>
                    </a:p>
                  </a:txBody>
                  <a:tcPr anchor="ctr" marL="54864" marR="54864" marT="18288" marB="18288">
                    <a:lnL w="9525">
                      <a:solidFill>
                        <a:srgbClr val="D5DBE8"/>
                      </a:solidFill>
                    </a:lnL>
                    <a:lnR w="9525">
                      <a:solidFill>
                        <a:srgbClr val="D5DBE8"/>
                      </a:solidFill>
                    </a:lnR>
                    <a:lnT w="9525">
                      <a:solidFill>
                        <a:srgbClr val="D5DBE8"/>
                      </a:solidFill>
                    </a:lnT>
                    <a:lnB w="9525">
                      <a:solidFill>
                        <a:srgbClr val="D5DBE8"/>
                      </a:solidFill>
                    </a:lnB>
                    <a:solidFill>
                      <a:srgbClr val="F4F6F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B3245"/>
                          </a:solidFill>
                          <a:latin typeface="Microsoft YaHei"/>
                          <a:ea typeface="Microsoft YaHei"/>
                        </a:rPr>
                        <a:t>6</a:t>
                      </a:r>
                    </a:p>
                  </a:txBody>
                  <a:tcPr anchor="ctr" marL="54864" marR="54864" marT="18288" marB="18288">
                    <a:lnL w="9525">
                      <a:solidFill>
                        <a:srgbClr val="D5DBE8"/>
                      </a:solidFill>
                    </a:lnL>
                    <a:lnR w="9525">
                      <a:solidFill>
                        <a:srgbClr val="D5DBE8"/>
                      </a:solidFill>
                    </a:lnR>
                    <a:lnT w="9525">
                      <a:solidFill>
                        <a:srgbClr val="D5DBE8"/>
                      </a:solidFill>
                    </a:lnT>
                    <a:lnB w="9525">
                      <a:solidFill>
                        <a:srgbClr val="D5DB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B3245"/>
                          </a:solidFill>
                          <a:latin typeface="Microsoft YaHei"/>
                          <a:ea typeface="Microsoft YaHei"/>
                        </a:rPr>
                        <a:t>90</a:t>
                      </a:r>
                    </a:p>
                  </a:txBody>
                  <a:tcPr anchor="ctr" marL="54864" marR="54864" marT="18288" marB="18288">
                    <a:lnL w="9525">
                      <a:solidFill>
                        <a:srgbClr val="D5DBE8"/>
                      </a:solidFill>
                    </a:lnL>
                    <a:lnR w="9525">
                      <a:solidFill>
                        <a:srgbClr val="D5DBE8"/>
                      </a:solidFill>
                    </a:lnR>
                    <a:lnT w="9525">
                      <a:solidFill>
                        <a:srgbClr val="D5DBE8"/>
                      </a:solidFill>
                    </a:lnT>
                    <a:lnB w="9525">
                      <a:solidFill>
                        <a:srgbClr val="D5DB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B3245"/>
                          </a:solidFill>
                          <a:latin typeface="Microsoft YaHei"/>
                          <a:ea typeface="Microsoft YaHei"/>
                        </a:rPr>
                        <a:t>25,948</a:t>
                      </a:r>
                    </a:p>
                  </a:txBody>
                  <a:tcPr anchor="ctr" marL="54864" marR="54864" marT="18288" marB="18288">
                    <a:lnL w="9525">
                      <a:solidFill>
                        <a:srgbClr val="D5DBE8"/>
                      </a:solidFill>
                    </a:lnL>
                    <a:lnR w="9525">
                      <a:solidFill>
                        <a:srgbClr val="D5DBE8"/>
                      </a:solidFill>
                    </a:lnR>
                    <a:lnT w="9525">
                      <a:solidFill>
                        <a:srgbClr val="D5DBE8"/>
                      </a:solidFill>
                    </a:lnT>
                    <a:lnB w="9525">
                      <a:solidFill>
                        <a:srgbClr val="D5DB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B3245"/>
                          </a:solidFill>
                          <a:latin typeface="Microsoft YaHei"/>
                          <a:ea typeface="Microsoft YaHei"/>
                        </a:rPr>
                        <a:t>15,396</a:t>
                      </a:r>
                    </a:p>
                  </a:txBody>
                  <a:tcPr anchor="ctr" marL="54864" marR="54864" marT="18288" marB="18288">
                    <a:lnL w="9525">
                      <a:solidFill>
                        <a:srgbClr val="D5DBE8"/>
                      </a:solidFill>
                    </a:lnL>
                    <a:lnR w="9525">
                      <a:solidFill>
                        <a:srgbClr val="D5DBE8"/>
                      </a:solidFill>
                    </a:lnR>
                    <a:lnT w="9525">
                      <a:solidFill>
                        <a:srgbClr val="D5DBE8"/>
                      </a:solidFill>
                    </a:lnT>
                    <a:lnB w="9525">
                      <a:solidFill>
                        <a:srgbClr val="D5DB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B3245"/>
                          </a:solidFill>
                          <a:latin typeface="Microsoft YaHei"/>
                          <a:ea typeface="Microsoft YaHei"/>
                        </a:rPr>
                        <a:t>0/30</a:t>
                      </a:r>
                    </a:p>
                  </a:txBody>
                  <a:tcPr anchor="ctr" marL="54864" marR="54864" marT="18288" marB="18288">
                    <a:lnL w="9525">
                      <a:solidFill>
                        <a:srgbClr val="D5DBE8"/>
                      </a:solidFill>
                    </a:lnL>
                    <a:lnR w="9525">
                      <a:solidFill>
                        <a:srgbClr val="D5DBE8"/>
                      </a:solidFill>
                    </a:lnR>
                    <a:lnT w="9525">
                      <a:solidFill>
                        <a:srgbClr val="D5DBE8"/>
                      </a:solidFill>
                    </a:lnT>
                    <a:lnB w="9525">
                      <a:solidFill>
                        <a:srgbClr val="D5DB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B3245"/>
                          </a:solidFill>
                          <a:latin typeface="Microsoft YaHei"/>
                          <a:ea typeface="Microsoft YaHei"/>
                        </a:rPr>
                        <a:t>7</a:t>
                      </a:r>
                    </a:p>
                  </a:txBody>
                  <a:tcPr anchor="ctr" marL="54864" marR="54864" marT="18288" marB="18288">
                    <a:lnL w="9525">
                      <a:solidFill>
                        <a:srgbClr val="D5DBE8"/>
                      </a:solidFill>
                    </a:lnL>
                    <a:lnR w="9525">
                      <a:solidFill>
                        <a:srgbClr val="D5DBE8"/>
                      </a:solidFill>
                    </a:lnR>
                    <a:lnT w="9525">
                      <a:solidFill>
                        <a:srgbClr val="D5DBE8"/>
                      </a:solidFill>
                    </a:lnT>
                    <a:lnB w="9525">
                      <a:solidFill>
                        <a:srgbClr val="D5DBE8"/>
                      </a:solidFill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B3245"/>
                          </a:solidFill>
                          <a:latin typeface="Microsoft YaHei"/>
                          <a:ea typeface="Microsoft YaHei"/>
                        </a:rPr>
                        <a:t>105</a:t>
                      </a:r>
                    </a:p>
                  </a:txBody>
                  <a:tcPr anchor="ctr" marL="54864" marR="54864" marT="18288" marB="18288">
                    <a:lnL w="9525">
                      <a:solidFill>
                        <a:srgbClr val="D5DBE8"/>
                      </a:solidFill>
                    </a:lnL>
                    <a:lnR w="9525">
                      <a:solidFill>
                        <a:srgbClr val="D5DBE8"/>
                      </a:solidFill>
                    </a:lnR>
                    <a:lnT w="9525">
                      <a:solidFill>
                        <a:srgbClr val="D5DBE8"/>
                      </a:solidFill>
                    </a:lnT>
                    <a:lnB w="9525">
                      <a:solidFill>
                        <a:srgbClr val="D5DBE8"/>
                      </a:solidFill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B3245"/>
                          </a:solidFill>
                          <a:latin typeface="Microsoft YaHei"/>
                          <a:ea typeface="Microsoft YaHei"/>
                        </a:rPr>
                        <a:t>8,737</a:t>
                      </a:r>
                    </a:p>
                  </a:txBody>
                  <a:tcPr anchor="ctr" marL="54864" marR="54864" marT="18288" marB="18288">
                    <a:lnL w="9525">
                      <a:solidFill>
                        <a:srgbClr val="D5DBE8"/>
                      </a:solidFill>
                    </a:lnL>
                    <a:lnR w="9525">
                      <a:solidFill>
                        <a:srgbClr val="D5DBE8"/>
                      </a:solidFill>
                    </a:lnR>
                    <a:lnT w="9525">
                      <a:solidFill>
                        <a:srgbClr val="D5DBE8"/>
                      </a:solidFill>
                    </a:lnT>
                    <a:lnB w="9525">
                      <a:solidFill>
                        <a:srgbClr val="D5DBE8"/>
                      </a:solidFill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B3245"/>
                          </a:solidFill>
                          <a:latin typeface="Microsoft YaHei"/>
                          <a:ea typeface="Microsoft YaHei"/>
                        </a:rPr>
                        <a:t>3,922</a:t>
                      </a:r>
                    </a:p>
                  </a:txBody>
                  <a:tcPr anchor="ctr" marL="54864" marR="54864" marT="18288" marB="18288">
                    <a:lnL w="9525">
                      <a:solidFill>
                        <a:srgbClr val="D5DBE8"/>
                      </a:solidFill>
                    </a:lnL>
                    <a:lnR w="9525">
                      <a:solidFill>
                        <a:srgbClr val="D5DBE8"/>
                      </a:solidFill>
                    </a:lnR>
                    <a:lnT w="9525">
                      <a:solidFill>
                        <a:srgbClr val="D5DBE8"/>
                      </a:solidFill>
                    </a:lnT>
                    <a:lnB w="9525">
                      <a:solidFill>
                        <a:srgbClr val="D5DBE8"/>
                      </a:solidFill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B3245"/>
                          </a:solidFill>
                          <a:latin typeface="Microsoft YaHei"/>
                          <a:ea typeface="Microsoft YaHei"/>
                        </a:rPr>
                        <a:t>0/30</a:t>
                      </a:r>
                    </a:p>
                  </a:txBody>
                  <a:tcPr anchor="ctr" marL="54864" marR="54864" marT="18288" marB="18288">
                    <a:lnL w="9525">
                      <a:solidFill>
                        <a:srgbClr val="D5DBE8"/>
                      </a:solidFill>
                    </a:lnL>
                    <a:lnR w="9525">
                      <a:solidFill>
                        <a:srgbClr val="D5DBE8"/>
                      </a:solidFill>
                    </a:lnR>
                    <a:lnT w="9525">
                      <a:solidFill>
                        <a:srgbClr val="D5DBE8"/>
                      </a:solidFill>
                    </a:lnT>
                    <a:lnB w="9525">
                      <a:solidFill>
                        <a:srgbClr val="D5DBE8"/>
                      </a:solidFill>
                    </a:lnB>
                    <a:solidFill>
                      <a:srgbClr val="F4F6F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B3245"/>
                          </a:solidFill>
                          <a:latin typeface="Microsoft YaHei"/>
                          <a:ea typeface="Microsoft YaHei"/>
                        </a:rPr>
                        <a:t>8</a:t>
                      </a:r>
                    </a:p>
                  </a:txBody>
                  <a:tcPr anchor="ctr" marL="54864" marR="54864" marT="18288" marB="18288">
                    <a:lnL w="9525">
                      <a:solidFill>
                        <a:srgbClr val="D5DBE8"/>
                      </a:solidFill>
                    </a:lnL>
                    <a:lnR w="9525">
                      <a:solidFill>
                        <a:srgbClr val="D5DBE8"/>
                      </a:solidFill>
                    </a:lnR>
                    <a:lnT w="9525">
                      <a:solidFill>
                        <a:srgbClr val="D5DBE8"/>
                      </a:solidFill>
                    </a:lnT>
                    <a:lnB w="9525">
                      <a:solidFill>
                        <a:srgbClr val="D5DB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B3245"/>
                          </a:solidFill>
                          <a:latin typeface="Microsoft YaHei"/>
                          <a:ea typeface="Microsoft YaHei"/>
                        </a:rPr>
                        <a:t>120</a:t>
                      </a:r>
                    </a:p>
                  </a:txBody>
                  <a:tcPr anchor="ctr" marL="54864" marR="54864" marT="18288" marB="18288">
                    <a:lnL w="9525">
                      <a:solidFill>
                        <a:srgbClr val="D5DBE8"/>
                      </a:solidFill>
                    </a:lnL>
                    <a:lnR w="9525">
                      <a:solidFill>
                        <a:srgbClr val="D5DBE8"/>
                      </a:solidFill>
                    </a:lnR>
                    <a:lnT w="9525">
                      <a:solidFill>
                        <a:srgbClr val="D5DBE8"/>
                      </a:solidFill>
                    </a:lnT>
                    <a:lnB w="9525">
                      <a:solidFill>
                        <a:srgbClr val="D5DB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B3245"/>
                          </a:solidFill>
                          <a:latin typeface="Microsoft YaHei"/>
                          <a:ea typeface="Microsoft YaHei"/>
                        </a:rPr>
                        <a:t>3,357</a:t>
                      </a:r>
                    </a:p>
                  </a:txBody>
                  <a:tcPr anchor="ctr" marL="54864" marR="54864" marT="18288" marB="18288">
                    <a:lnL w="9525">
                      <a:solidFill>
                        <a:srgbClr val="D5DBE8"/>
                      </a:solidFill>
                    </a:lnL>
                    <a:lnR w="9525">
                      <a:solidFill>
                        <a:srgbClr val="D5DBE8"/>
                      </a:solidFill>
                    </a:lnR>
                    <a:lnT w="9525">
                      <a:solidFill>
                        <a:srgbClr val="D5DBE8"/>
                      </a:solidFill>
                    </a:lnT>
                    <a:lnB w="9525">
                      <a:solidFill>
                        <a:srgbClr val="D5DB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B3245"/>
                          </a:solidFill>
                          <a:latin typeface="Microsoft YaHei"/>
                          <a:ea typeface="Microsoft YaHei"/>
                        </a:rPr>
                        <a:t>1,995</a:t>
                      </a:r>
                    </a:p>
                  </a:txBody>
                  <a:tcPr anchor="ctr" marL="54864" marR="54864" marT="18288" marB="18288">
                    <a:lnL w="9525">
                      <a:solidFill>
                        <a:srgbClr val="D5DBE8"/>
                      </a:solidFill>
                    </a:lnL>
                    <a:lnR w="9525">
                      <a:solidFill>
                        <a:srgbClr val="D5DBE8"/>
                      </a:solidFill>
                    </a:lnR>
                    <a:lnT w="9525">
                      <a:solidFill>
                        <a:srgbClr val="D5DBE8"/>
                      </a:solidFill>
                    </a:lnT>
                    <a:lnB w="9525">
                      <a:solidFill>
                        <a:srgbClr val="D5DB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B3245"/>
                          </a:solidFill>
                          <a:latin typeface="Microsoft YaHei"/>
                          <a:ea typeface="Microsoft YaHei"/>
                        </a:rPr>
                        <a:t>0/30</a:t>
                      </a:r>
                    </a:p>
                  </a:txBody>
                  <a:tcPr anchor="ctr" marL="54864" marR="54864" marT="18288" marB="18288">
                    <a:lnL w="9525">
                      <a:solidFill>
                        <a:srgbClr val="D5DBE8"/>
                      </a:solidFill>
                    </a:lnL>
                    <a:lnR w="9525">
                      <a:solidFill>
                        <a:srgbClr val="D5DBE8"/>
                      </a:solidFill>
                    </a:lnR>
                    <a:lnT w="9525">
                      <a:solidFill>
                        <a:srgbClr val="D5DBE8"/>
                      </a:solidFill>
                    </a:lnT>
                    <a:lnB w="9525">
                      <a:solidFill>
                        <a:srgbClr val="D5DBE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498079" y="5760720"/>
            <a:ext cx="438912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</a:rPr>
              <a:t>最难区约在度数 4–5（可染/不可染分界附近）；稀疏端均值被个别重尾实例拉高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A5BD"/>
                </a:solidFill>
                <a:latin typeface="Microsoft YaHei"/>
                <a:ea typeface="Microsoft YaHei"/>
              </a:rPr>
              <a:t>图三染色 · Basic 展示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73952"/>
            <a:ext cx="10058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AA5BD"/>
                </a:solidFill>
                <a:latin typeface="Microsoft YaHei"/>
                <a:ea typeface="Microsoft YaHei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84048"/>
            <a:ext cx="128016" cy="566928"/>
          </a:xfrm>
          <a:prstGeom prst="rect">
            <a:avLst/>
          </a:prstGeom>
          <a:solidFill>
            <a:srgbClr val="2E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92608"/>
            <a:ext cx="1133856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2A44"/>
                </a:solidFill>
                <a:latin typeface="Microsoft YaHei"/>
                <a:ea typeface="Microsoft YaHei"/>
              </a:rPr>
              <a:t>Grötzsch 图：没有三角形，却不能三染色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78408"/>
            <a:ext cx="1124712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B7280"/>
                </a:solidFill>
                <a:latin typeface="Microsoft YaHei"/>
                <a:ea typeface="Microsoft YaHei"/>
              </a:rPr>
              <a:t>“难”不一定有显而易见的局部理由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291840" y="2011680"/>
            <a:ext cx="1739292" cy="1263669"/>
          </a:xfrm>
          <a:prstGeom prst="line">
            <a:avLst/>
          </a:prstGeom>
          <a:ln w="28575">
            <a:solidFill>
              <a:srgbClr val="8A93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4366781" y="3275349"/>
            <a:ext cx="664351" cy="2044661"/>
          </a:xfrm>
          <a:prstGeom prst="line">
            <a:avLst/>
          </a:prstGeom>
          <a:ln w="28575">
            <a:solidFill>
              <a:srgbClr val="8A93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2216898" y="5320010"/>
            <a:ext cx="2149883" cy="0"/>
          </a:xfrm>
          <a:prstGeom prst="line">
            <a:avLst/>
          </a:prstGeom>
          <a:ln w="28575">
            <a:solidFill>
              <a:srgbClr val="8A93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 flipV="1">
            <a:off x="1552547" y="3275349"/>
            <a:ext cx="664351" cy="2044661"/>
          </a:xfrm>
          <a:prstGeom prst="line">
            <a:avLst/>
          </a:prstGeom>
          <a:ln w="28575">
            <a:solidFill>
              <a:srgbClr val="8A93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552547" y="2011680"/>
            <a:ext cx="1739293" cy="1263669"/>
          </a:xfrm>
          <a:prstGeom prst="line">
            <a:avLst/>
          </a:prstGeom>
          <a:ln w="28575">
            <a:solidFill>
              <a:srgbClr val="8A93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91840" y="2926080"/>
            <a:ext cx="1739292" cy="349269"/>
          </a:xfrm>
          <a:prstGeom prst="line">
            <a:avLst/>
          </a:prstGeom>
          <a:ln w="28575">
            <a:solidFill>
              <a:srgbClr val="8A93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1552547" y="2926080"/>
            <a:ext cx="1739293" cy="349269"/>
          </a:xfrm>
          <a:prstGeom prst="line">
            <a:avLst/>
          </a:prstGeom>
          <a:ln w="28575">
            <a:solidFill>
              <a:srgbClr val="8A93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 flipV="1">
            <a:off x="3291840" y="2011680"/>
            <a:ext cx="869646" cy="1546234"/>
          </a:xfrm>
          <a:prstGeom prst="line">
            <a:avLst/>
          </a:prstGeom>
          <a:ln w="28575">
            <a:solidFill>
              <a:srgbClr val="8A93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161486" y="3557914"/>
            <a:ext cx="205295" cy="1762096"/>
          </a:xfrm>
          <a:prstGeom prst="line">
            <a:avLst/>
          </a:prstGeom>
          <a:ln w="28575">
            <a:solidFill>
              <a:srgbClr val="8A93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3829310" y="3275349"/>
            <a:ext cx="1201822" cy="1304896"/>
          </a:xfrm>
          <a:prstGeom prst="line">
            <a:avLst/>
          </a:prstGeom>
          <a:ln w="28575">
            <a:solidFill>
              <a:srgbClr val="8A93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2216898" y="4580245"/>
            <a:ext cx="1612412" cy="739765"/>
          </a:xfrm>
          <a:prstGeom prst="line">
            <a:avLst/>
          </a:prstGeom>
          <a:ln w="28575">
            <a:solidFill>
              <a:srgbClr val="8A93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754369" y="4580245"/>
            <a:ext cx="1612412" cy="739765"/>
          </a:xfrm>
          <a:prstGeom prst="line">
            <a:avLst/>
          </a:prstGeom>
          <a:ln w="28575">
            <a:solidFill>
              <a:srgbClr val="8A93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 flipV="1">
            <a:off x="1552547" y="3275349"/>
            <a:ext cx="1201822" cy="1304896"/>
          </a:xfrm>
          <a:prstGeom prst="line">
            <a:avLst/>
          </a:prstGeom>
          <a:ln w="28575">
            <a:solidFill>
              <a:srgbClr val="8A93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2216898" y="3557914"/>
            <a:ext cx="205295" cy="1762096"/>
          </a:xfrm>
          <a:prstGeom prst="line">
            <a:avLst/>
          </a:prstGeom>
          <a:ln w="28575">
            <a:solidFill>
              <a:srgbClr val="8A93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422193" y="2011680"/>
            <a:ext cx="869647" cy="1546234"/>
          </a:xfrm>
          <a:prstGeom prst="line">
            <a:avLst/>
          </a:prstGeom>
          <a:ln w="28575">
            <a:solidFill>
              <a:srgbClr val="8A93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3291840" y="2926080"/>
            <a:ext cx="0" cy="914400"/>
          </a:xfrm>
          <a:prstGeom prst="line">
            <a:avLst/>
          </a:prstGeom>
          <a:ln w="28575">
            <a:solidFill>
              <a:srgbClr val="8A93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3291840" y="3557914"/>
            <a:ext cx="869646" cy="282566"/>
          </a:xfrm>
          <a:prstGeom prst="line">
            <a:avLst/>
          </a:prstGeom>
          <a:ln w="28575">
            <a:solidFill>
              <a:srgbClr val="8A93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291840" y="3840480"/>
            <a:ext cx="537470" cy="739765"/>
          </a:xfrm>
          <a:prstGeom prst="line">
            <a:avLst/>
          </a:prstGeom>
          <a:ln w="28575">
            <a:solidFill>
              <a:srgbClr val="8A93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2754369" y="3840480"/>
            <a:ext cx="537471" cy="739765"/>
          </a:xfrm>
          <a:prstGeom prst="line">
            <a:avLst/>
          </a:prstGeom>
          <a:ln w="28575">
            <a:solidFill>
              <a:srgbClr val="8A93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 flipV="1">
            <a:off x="2422193" y="3557914"/>
            <a:ext cx="869647" cy="282566"/>
          </a:xfrm>
          <a:prstGeom prst="line">
            <a:avLst/>
          </a:prstGeom>
          <a:ln w="28575">
            <a:solidFill>
              <a:srgbClr val="8A93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3063240" y="1783080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A4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>
                <a:solidFill>
                  <a:srgbClr val="2B3245"/>
                </a:solidFill>
                <a:latin typeface="Microsoft YaHei"/>
                <a:ea typeface="Microsoft YaHei"/>
              </a:rPr>
              <a:t>0</a:t>
            </a:r>
          </a:p>
        </p:txBody>
      </p:sp>
      <p:sp>
        <p:nvSpPr>
          <p:cNvPr id="26" name="Oval 25"/>
          <p:cNvSpPr/>
          <p:nvPr/>
        </p:nvSpPr>
        <p:spPr>
          <a:xfrm>
            <a:off x="3063240" y="2697480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A4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>
                <a:solidFill>
                  <a:srgbClr val="2B3245"/>
                </a:solidFill>
                <a:latin typeface="Microsoft YaHei"/>
                <a:ea typeface="Microsoft YaHei"/>
              </a:rPr>
              <a:t>5</a:t>
            </a:r>
          </a:p>
        </p:txBody>
      </p:sp>
      <p:sp>
        <p:nvSpPr>
          <p:cNvPr id="27" name="Oval 26"/>
          <p:cNvSpPr/>
          <p:nvPr/>
        </p:nvSpPr>
        <p:spPr>
          <a:xfrm>
            <a:off x="4802532" y="3046749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A4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>
                <a:solidFill>
                  <a:srgbClr val="2B3245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28" name="Oval 27"/>
          <p:cNvSpPr/>
          <p:nvPr/>
        </p:nvSpPr>
        <p:spPr>
          <a:xfrm>
            <a:off x="3932886" y="3329314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A4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>
                <a:solidFill>
                  <a:srgbClr val="2B3245"/>
                </a:solidFill>
                <a:latin typeface="Microsoft YaHei"/>
                <a:ea typeface="Microsoft YaHei"/>
              </a:rPr>
              <a:t>6</a:t>
            </a:r>
          </a:p>
        </p:txBody>
      </p:sp>
      <p:sp>
        <p:nvSpPr>
          <p:cNvPr id="29" name="Oval 28"/>
          <p:cNvSpPr/>
          <p:nvPr/>
        </p:nvSpPr>
        <p:spPr>
          <a:xfrm>
            <a:off x="4138181" y="5091410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A4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>
                <a:solidFill>
                  <a:srgbClr val="2B3245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30" name="Oval 29"/>
          <p:cNvSpPr/>
          <p:nvPr/>
        </p:nvSpPr>
        <p:spPr>
          <a:xfrm>
            <a:off x="3600710" y="4351645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A4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>
                <a:solidFill>
                  <a:srgbClr val="2B3245"/>
                </a:solidFill>
                <a:latin typeface="Microsoft YaHei"/>
                <a:ea typeface="Microsoft YaHei"/>
              </a:rPr>
              <a:t>7</a:t>
            </a:r>
          </a:p>
        </p:txBody>
      </p:sp>
      <p:sp>
        <p:nvSpPr>
          <p:cNvPr id="31" name="Oval 30"/>
          <p:cNvSpPr/>
          <p:nvPr/>
        </p:nvSpPr>
        <p:spPr>
          <a:xfrm>
            <a:off x="1988298" y="5091410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A4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>
                <a:solidFill>
                  <a:srgbClr val="2B3245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32" name="Oval 31"/>
          <p:cNvSpPr/>
          <p:nvPr/>
        </p:nvSpPr>
        <p:spPr>
          <a:xfrm>
            <a:off x="2525769" y="4351645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A4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>
                <a:solidFill>
                  <a:srgbClr val="2B3245"/>
                </a:solidFill>
                <a:latin typeface="Microsoft YaHei"/>
                <a:ea typeface="Microsoft YaHei"/>
              </a:rPr>
              <a:t>8</a:t>
            </a:r>
          </a:p>
        </p:txBody>
      </p:sp>
      <p:sp>
        <p:nvSpPr>
          <p:cNvPr id="33" name="Oval 32"/>
          <p:cNvSpPr/>
          <p:nvPr/>
        </p:nvSpPr>
        <p:spPr>
          <a:xfrm>
            <a:off x="1323947" y="3046749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A4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>
                <a:solidFill>
                  <a:srgbClr val="2B3245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34" name="Oval 33"/>
          <p:cNvSpPr/>
          <p:nvPr/>
        </p:nvSpPr>
        <p:spPr>
          <a:xfrm>
            <a:off x="2193593" y="3329314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A4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>
                <a:solidFill>
                  <a:srgbClr val="2B3245"/>
                </a:solidFill>
                <a:latin typeface="Microsoft YaHei"/>
                <a:ea typeface="Microsoft YaHei"/>
              </a:rPr>
              <a:t>9</a:t>
            </a:r>
          </a:p>
        </p:txBody>
      </p:sp>
      <p:sp>
        <p:nvSpPr>
          <p:cNvPr id="35" name="Oval 34"/>
          <p:cNvSpPr/>
          <p:nvPr/>
        </p:nvSpPr>
        <p:spPr>
          <a:xfrm>
            <a:off x="3063240" y="3611880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A4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>
                <a:solidFill>
                  <a:srgbClr val="2B3245"/>
                </a:solidFill>
                <a:latin typeface="Microsoft YaHei"/>
                <a:ea typeface="Microsoft YaHei"/>
              </a:rPr>
              <a:t>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5943600"/>
            <a:ext cx="51206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  <a:latin typeface="Microsoft YaHei"/>
                <a:ea typeface="Microsoft YaHei"/>
              </a:rPr>
              <a:t>Grötzsch 图：11 个顶点、20 条边、无三角形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1691640"/>
            <a:ext cx="5394960" cy="4480560"/>
          </a:xfrm>
          <a:prstGeom prst="roundRect">
            <a:avLst>
              <a:gd name="adj" fmla="val 2448"/>
            </a:avLst>
          </a:prstGeom>
          <a:solidFill>
            <a:srgbClr val="EEF2FA"/>
          </a:solidFill>
          <a:ln w="15875">
            <a:solidFill>
              <a:srgbClr val="D5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800" b="1">
                <a:solidFill>
                  <a:srgbClr val="1F2A44"/>
                </a:solidFill>
                <a:latin typeface="Microsoft YaHei"/>
                <a:ea typeface="Microsoft YaHei"/>
              </a:rPr>
              <a:t>11 个顶点，20 条边，不含任何三角形，色数却是 4</a:t>
            </a:r>
          </a:p>
          <a:p>
            <a:pPr algn="l"/>
            <a:r>
              <a:rPr sz="600" b="0">
                <a:solidFill>
                  <a:srgbClr val="2B3245"/>
                </a:solidFill>
                <a:latin typeface="Microsoft YaHei"/>
                <a:ea typeface="Microsoft YaHei"/>
              </a:rPr>
              <a:t> </a:t>
            </a:r>
          </a:p>
          <a:p>
            <a:pPr algn="l"/>
            <a:r>
              <a:rPr sz="1700" b="0">
                <a:solidFill>
                  <a:srgbClr val="2B3245"/>
                </a:solidFill>
                <a:latin typeface="Microsoft YaHei"/>
                <a:ea typeface="Microsoft YaHei"/>
              </a:rPr>
              <a:t>朴素回溯要 472 个节点才确认无解（K4 只需 16 个）</a:t>
            </a:r>
          </a:p>
          <a:p>
            <a:pPr algn="l"/>
            <a:r>
              <a:rPr sz="600" b="0">
                <a:solidFill>
                  <a:srgbClr val="2B3245"/>
                </a:solidFill>
                <a:latin typeface="Microsoft YaHei"/>
                <a:ea typeface="Microsoft YaHei"/>
              </a:rPr>
              <a:t> </a:t>
            </a:r>
          </a:p>
          <a:p>
            <a:pPr algn="l"/>
            <a:r>
              <a:rPr sz="1700" b="0">
                <a:solidFill>
                  <a:srgbClr val="2B3245"/>
                </a:solidFill>
                <a:latin typeface="Microsoft YaHei"/>
                <a:ea typeface="Microsoft YaHei"/>
              </a:rPr>
              <a:t>无解没有“一眼可见”的局部理由（不像 K4 的完全子图）</a:t>
            </a:r>
          </a:p>
          <a:p>
            <a:pPr algn="l"/>
            <a:r>
              <a:rPr sz="600" b="0">
                <a:solidFill>
                  <a:srgbClr val="2B3245"/>
                </a:solidFill>
                <a:latin typeface="Microsoft YaHei"/>
                <a:ea typeface="Microsoft YaHei"/>
              </a:rPr>
              <a:t> </a:t>
            </a:r>
          </a:p>
          <a:p>
            <a:pPr algn="l"/>
            <a:r>
              <a:rPr sz="1800" b="1">
                <a:solidFill>
                  <a:srgbClr val="1F2A44"/>
                </a:solidFill>
                <a:latin typeface="Microsoft YaHei"/>
                <a:ea typeface="Microsoft YaHei"/>
              </a:rPr>
              <a:t>对 NP 完全的启示</a:t>
            </a:r>
          </a:p>
          <a:p>
            <a:pPr algn="l"/>
            <a:r>
              <a:rPr sz="1700" b="0">
                <a:solidFill>
                  <a:srgbClr val="2B3245"/>
                </a:solidFill>
                <a:latin typeface="Microsoft YaHei"/>
                <a:ea typeface="Microsoft YaHei"/>
              </a:rPr>
              <a:t>有解：给出方案，O(n+m) 即可验证</a:t>
            </a:r>
          </a:p>
          <a:p>
            <a:pPr algn="l"/>
            <a:r>
              <a:rPr sz="1700" b="0">
                <a:solidFill>
                  <a:srgbClr val="2B3245"/>
                </a:solidFill>
                <a:latin typeface="Microsoft YaHei"/>
                <a:ea typeface="Microsoft YaHei"/>
              </a:rPr>
              <a:t>无解：没有已知的通用办法给出比穷尽搜索更短的证据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A5BD"/>
                </a:solidFill>
                <a:latin typeface="Microsoft YaHei"/>
                <a:ea typeface="Microsoft YaHei"/>
              </a:rPr>
              <a:t>图三染色 · Basic 展示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89920" y="6473952"/>
            <a:ext cx="10058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AA5BD"/>
                </a:solidFill>
                <a:latin typeface="Microsoft YaHei"/>
                <a:ea typeface="Microsoft YaHei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84048"/>
            <a:ext cx="128016" cy="566928"/>
          </a:xfrm>
          <a:prstGeom prst="rect">
            <a:avLst/>
          </a:prstGeom>
          <a:solidFill>
            <a:srgbClr val="2E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92608"/>
            <a:ext cx="1133856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2A44"/>
                </a:solidFill>
                <a:latin typeface="Microsoft YaHei"/>
                <a:ea typeface="Microsoft YaHei"/>
              </a:rPr>
              <a:t>实现与验证：怎么知道它是对的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78408"/>
            <a:ext cx="1124712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B7280"/>
                </a:solidFill>
                <a:latin typeface="Microsoft YaHei"/>
                <a:ea typeface="Microsoft YaHei"/>
              </a:rPr>
              <a:t>OJ 单文件框架 + 独立实现交叉验证 + C++ 副本逐点对照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3611880" cy="685800"/>
          </a:xfrm>
          <a:prstGeom prst="roundRect">
            <a:avLst>
              <a:gd name="adj" fmla="val 16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900" b="1">
                <a:solidFill>
                  <a:srgbClr val="FFFFFF"/>
                </a:solidFill>
                <a:latin typeface="Microsoft YaHei"/>
                <a:ea typeface="Microsoft YaHei"/>
              </a:rPr>
              <a:t>OJ 单文件框架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77440"/>
            <a:ext cx="3611880" cy="3063240"/>
          </a:xfrm>
          <a:prstGeom prst="roundRect">
            <a:avLst>
              <a:gd name="adj" fmla="val 1492"/>
            </a:avLst>
          </a:prstGeom>
          <a:solidFill>
            <a:srgbClr val="FFFFFF"/>
          </a:solidFill>
          <a:ln w="15875">
            <a:solidFill>
              <a:srgbClr val="D5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600" b="0">
                <a:solidFill>
                  <a:srgbClr val="2B3245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514600"/>
            <a:ext cx="3383280" cy="2926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56032" indent="-256032">
              <a:spcAft>
                <a:spcPts val="900"/>
              </a:spcAft>
              <a:buFont typeface="Arial"/>
              <a:buChar char="•"/>
            </a:pPr>
            <a:r>
              <a:rPr sz="1500" b="0">
                <a:solidFill>
                  <a:srgbClr val="2B3245"/>
                </a:solidFill>
                <a:latin typeface="Microsoft YaHei"/>
                <a:ea typeface="Microsoft YaHei"/>
              </a:rPr>
              <a:t>只补全 three_color(n, adj)，I/O 由框架提供</a:t>
            </a:r>
          </a:p>
          <a:p>
            <a:pPr algn="l" marL="256032" indent="-256032">
              <a:spcAft>
                <a:spcPts val="900"/>
              </a:spcAft>
              <a:buFont typeface="Arial"/>
              <a:buChar char="•"/>
            </a:pPr>
            <a:r>
              <a:rPr sz="1500" b="0">
                <a:solidFill>
                  <a:srgbClr val="2B3245"/>
                </a:solidFill>
                <a:latin typeface="Microsoft YaHei"/>
                <a:ea typeface="Microsoft YaHei"/>
              </a:rPr>
              <a:t>输出 SAT / 颜色 / NODES，全文精确比较</a:t>
            </a:r>
          </a:p>
          <a:p>
            <a:pPr algn="l" marL="256032" indent="-256032">
              <a:spcAft>
                <a:spcPts val="900"/>
              </a:spcAft>
              <a:buFont typeface="Arial"/>
              <a:buChar char="•"/>
            </a:pPr>
            <a:r>
              <a:rPr sz="1500" b="0">
                <a:solidFill>
                  <a:srgbClr val="2B3245"/>
                </a:solidFill>
                <a:latin typeface="Microsoft YaHei"/>
                <a:ea typeface="Microsoft YaHei"/>
              </a:rPr>
              <a:t>自环：直接 UNSAT，NODES 0</a:t>
            </a:r>
          </a:p>
          <a:p>
            <a:pPr algn="l" marL="256032" indent="-256032">
              <a:spcAft>
                <a:spcPts val="900"/>
              </a:spcAft>
              <a:buFont typeface="Arial"/>
              <a:buChar char="•"/>
            </a:pPr>
            <a:r>
              <a:rPr sz="1500" b="0">
                <a:solidFill>
                  <a:srgbClr val="2B3245"/>
                </a:solidFill>
                <a:latin typeface="Microsoft YaHei"/>
                <a:ea typeface="Microsoft YaHei"/>
              </a:rPr>
              <a:t>n 可达 500，递归深度需调高上限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91640"/>
            <a:ext cx="3611880" cy="685800"/>
          </a:xfrm>
          <a:prstGeom prst="roundRect">
            <a:avLst>
              <a:gd name="adj" fmla="val 16000"/>
            </a:avLst>
          </a:prstGeom>
          <a:solidFill>
            <a:srgbClr val="2BA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900" b="1">
                <a:solidFill>
                  <a:srgbClr val="FFFFFF"/>
                </a:solidFill>
                <a:latin typeface="Microsoft YaHei"/>
                <a:ea typeface="Microsoft YaHei"/>
              </a:rPr>
              <a:t>本地验收 20/20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377440"/>
            <a:ext cx="3611880" cy="3063240"/>
          </a:xfrm>
          <a:prstGeom prst="roundRect">
            <a:avLst>
              <a:gd name="adj" fmla="val 1492"/>
            </a:avLst>
          </a:prstGeom>
          <a:solidFill>
            <a:srgbClr val="FFFFFF"/>
          </a:solidFill>
          <a:ln w="15875">
            <a:solidFill>
              <a:srgbClr val="D5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600" b="0">
                <a:solidFill>
                  <a:srgbClr val="2B3245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8848" y="2514600"/>
            <a:ext cx="3383280" cy="2926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56032" indent="-256032">
              <a:spcAft>
                <a:spcPts val="900"/>
              </a:spcAft>
              <a:buFont typeface="Arial"/>
              <a:buChar char="•"/>
            </a:pPr>
            <a:r>
              <a:rPr sz="1500" b="0">
                <a:solidFill>
                  <a:srgbClr val="2B3245"/>
                </a:solidFill>
                <a:latin typeface="Microsoft YaHei"/>
                <a:ea typeface="Microsoft YaHei"/>
              </a:rPr>
              <a:t>19 个测试点 + 题面样例全文比较</a:t>
            </a:r>
          </a:p>
          <a:p>
            <a:pPr algn="l" marL="256032" indent="-256032">
              <a:spcAft>
                <a:spcPts val="900"/>
              </a:spcAft>
              <a:buFont typeface="Arial"/>
              <a:buChar char="•"/>
            </a:pPr>
            <a:r>
              <a:rPr sz="1500" b="0">
                <a:solidFill>
                  <a:srgbClr val="2B3245"/>
                </a:solidFill>
                <a:latin typeface="Microsoft YaHei"/>
                <a:ea typeface="Microsoft YaHei"/>
              </a:rPr>
              <a:t>链、偶环（n=500）、K(40,40)</a:t>
            </a:r>
          </a:p>
          <a:p>
            <a:pPr algn="l" marL="256032" indent="-256032">
              <a:spcAft>
                <a:spcPts val="900"/>
              </a:spcAft>
              <a:buFont typeface="Arial"/>
              <a:buChar char="•"/>
            </a:pPr>
            <a:r>
              <a:rPr sz="1500" b="0">
                <a:solidFill>
                  <a:srgbClr val="2B3245"/>
                </a:solidFill>
                <a:latin typeface="Microsoft YaHei"/>
                <a:ea typeface="Microsoft YaHei"/>
              </a:rPr>
              <a:t>Petersen、Grötzsch、K5、不连通图</a:t>
            </a:r>
          </a:p>
          <a:p>
            <a:pPr algn="l" marL="256032" indent="-256032">
              <a:spcAft>
                <a:spcPts val="900"/>
              </a:spcAft>
              <a:buFont typeface="Arial"/>
              <a:buChar char="•"/>
            </a:pPr>
            <a:r>
              <a:rPr sz="1500" b="0">
                <a:solidFill>
                  <a:srgbClr val="2B3245"/>
                </a:solidFill>
                <a:latin typeface="Microsoft YaHei"/>
                <a:ea typeface="Microsoft YaHei"/>
              </a:rPr>
              <a:t>随机图 n=28：UNSAT，224,443 节点 ≈ 0.2 s</a:t>
            </a:r>
          </a:p>
          <a:p>
            <a:pPr algn="l" marL="256032" indent="-256032">
              <a:spcAft>
                <a:spcPts val="900"/>
              </a:spcAft>
              <a:buFont typeface="Arial"/>
              <a:buChar char="•"/>
            </a:pPr>
            <a:r>
              <a:rPr sz="1500" b="0">
                <a:solidFill>
                  <a:srgbClr val="2B3245"/>
                </a:solidFill>
                <a:latin typeface="Microsoft YaHei"/>
                <a:ea typeface="Microsoft YaHei"/>
              </a:rPr>
              <a:t>独立显式栈实现交叉验证 SAT/UNSAT、方案、NODES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691640"/>
            <a:ext cx="3611880" cy="685800"/>
          </a:xfrm>
          <a:prstGeom prst="roundRect">
            <a:avLst>
              <a:gd name="adj" fmla="val 16000"/>
            </a:avLst>
          </a:prstGeom>
          <a:solidFill>
            <a:srgbClr val="2E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900" b="1">
                <a:solidFill>
                  <a:srgbClr val="FFFFFF"/>
                </a:solidFill>
                <a:latin typeface="Microsoft YaHei"/>
                <a:ea typeface="Microsoft YaHei"/>
              </a:rPr>
              <a:t>C++ 副本 68/68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2377440"/>
            <a:ext cx="3611880" cy="3063240"/>
          </a:xfrm>
          <a:prstGeom prst="roundRect">
            <a:avLst>
              <a:gd name="adj" fmla="val 1492"/>
            </a:avLst>
          </a:prstGeom>
          <a:solidFill>
            <a:srgbClr val="FFFFFF"/>
          </a:solidFill>
          <a:ln w="15875">
            <a:solidFill>
              <a:srgbClr val="D5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600" b="0">
                <a:solidFill>
                  <a:srgbClr val="2B3245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9327" y="2514600"/>
            <a:ext cx="3383280" cy="2926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56032" indent="-256032">
              <a:spcAft>
                <a:spcPts val="900"/>
              </a:spcAft>
              <a:buFont typeface="Arial"/>
              <a:buChar char="•"/>
            </a:pPr>
            <a:r>
              <a:rPr sz="1500" b="0">
                <a:solidFill>
                  <a:srgbClr val="2B3245"/>
                </a:solidFill>
                <a:latin typeface="Microsoft YaHei"/>
                <a:ea typeface="Microsoft YaHei"/>
              </a:rPr>
              <a:t>与 Python 版逐点对照染色方案与 NODES</a:t>
            </a:r>
          </a:p>
          <a:p>
            <a:pPr algn="l" marL="256032" indent="-256032">
              <a:spcAft>
                <a:spcPts val="900"/>
              </a:spcAft>
              <a:buFont typeface="Arial"/>
              <a:buChar char="•"/>
            </a:pPr>
            <a:r>
              <a:rPr sz="1500" b="0">
                <a:solidFill>
                  <a:srgbClr val="2B3245"/>
                </a:solidFill>
                <a:latin typeface="Microsoft YaHei"/>
                <a:ea typeface="Microsoft YaHei"/>
              </a:rPr>
              <a:t>含 19 个 OJ 测试点、data/ 实例与 40 个随机图</a:t>
            </a:r>
          </a:p>
          <a:p>
            <a:pPr algn="l" marL="256032" indent="-256032">
              <a:spcAft>
                <a:spcPts val="900"/>
              </a:spcAft>
              <a:buFont typeface="Arial"/>
              <a:buChar char="•"/>
            </a:pPr>
            <a:r>
              <a:rPr sz="1500" b="0">
                <a:solidFill>
                  <a:srgbClr val="2B3245"/>
                </a:solidFill>
                <a:latin typeface="Microsoft YaHei"/>
                <a:ea typeface="Microsoft YaHei"/>
              </a:rPr>
              <a:t>两版规则相同：顶点 0..n−1、颜色 0,1,2</a:t>
            </a:r>
          </a:p>
          <a:p>
            <a:pPr algn="l" marL="256032" indent="-256032">
              <a:spcAft>
                <a:spcPts val="900"/>
              </a:spcAft>
              <a:buFont typeface="Arial"/>
              <a:buChar char="•"/>
            </a:pPr>
            <a:r>
              <a:rPr sz="1500" b="0">
                <a:solidFill>
                  <a:srgbClr val="2B3245"/>
                </a:solidFill>
                <a:latin typeface="Microsoft YaHei"/>
                <a:ea typeface="Microsoft YaHei"/>
              </a:rPr>
              <a:t>check.py：任务一、二通过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623560"/>
            <a:ext cx="11292840" cy="685800"/>
          </a:xfrm>
          <a:prstGeom prst="roundRect">
            <a:avLst>
              <a:gd name="adj" fmla="val 16000"/>
            </a:avLst>
          </a:prstGeom>
          <a:solidFill>
            <a:srgbClr val="EEF2FA"/>
          </a:solidFill>
          <a:ln w="15875">
            <a:solidFill>
              <a:srgbClr val="D5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500" b="1">
                <a:solidFill>
                  <a:srgbClr val="1F2A44"/>
                </a:solidFill>
                <a:latin typeface="Microsoft YaHei"/>
                <a:ea typeface="Microsoft YaHei"/>
              </a:rPr>
              <a:t>NP 完全 ≠ 每个实例都难：</a:t>
            </a:r>
            <a:r>
              <a:rPr sz="1500" b="0">
                <a:solidFill>
                  <a:srgbClr val="2B3245"/>
                </a:solidFill>
                <a:latin typeface="Microsoft YaHei"/>
                <a:ea typeface="Microsoft YaHei"/>
              </a:rPr>
              <a:t>链 / 偶环 / K(40,40) 分别只要 n+1、n+1、81 个节点；相变区的随机图可能要搜几十万节点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A5BD"/>
                </a:solidFill>
                <a:latin typeface="Microsoft YaHei"/>
                <a:ea typeface="Microsoft YaHei"/>
              </a:rPr>
              <a:t>图三染色 · Basic 展示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73952"/>
            <a:ext cx="10058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AA5BD"/>
                </a:solidFill>
                <a:latin typeface="Microsoft YaHei"/>
                <a:ea typeface="Microsoft YaHei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84048"/>
            <a:ext cx="128016" cy="566928"/>
          </a:xfrm>
          <a:prstGeom prst="rect">
            <a:avLst/>
          </a:prstGeom>
          <a:solidFill>
            <a:srgbClr val="2E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92608"/>
            <a:ext cx="1133856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2A44"/>
                </a:solidFill>
                <a:latin typeface="Microsoft YaHei"/>
                <a:ea typeface="Microsoft YaHei"/>
              </a:rPr>
              <a:t>回溯为什么可能很慢？启发式又能买到什么？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78408"/>
            <a:ext cx="1124712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B7280"/>
                </a:solidFill>
                <a:latin typeface="Microsoft YaHei"/>
                <a:ea typeface="Microsoft YaHei"/>
              </a:rPr>
              <a:t>我们对终极问题的理解（Basic 阶段的结论 + 下一步）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532120" cy="4617720"/>
          </a:xfrm>
          <a:prstGeom prst="roundRect">
            <a:avLst>
              <a:gd name="adj" fmla="val 990"/>
            </a:avLst>
          </a:prstGeom>
          <a:solidFill>
            <a:srgbClr val="FFFFFF"/>
          </a:solidFill>
          <a:ln w="15875">
            <a:solidFill>
              <a:srgbClr val="D5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600" b="0">
                <a:solidFill>
                  <a:srgbClr val="2B3245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532120" cy="640080"/>
          </a:xfrm>
          <a:prstGeom prst="roundRect">
            <a:avLst>
              <a:gd name="adj" fmla="val 17142"/>
            </a:avLst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900" b="1">
                <a:solidFill>
                  <a:srgbClr val="FFFFFF"/>
                </a:solidFill>
                <a:latin typeface="Microsoft YaHei"/>
                <a:ea typeface="Microsoft YaHei"/>
              </a:rPr>
              <a:t>回溯为什么可能很慢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423160"/>
            <a:ext cx="5303520" cy="3840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56032" indent="-256032">
              <a:spcAft>
                <a:spcPts val="1200"/>
              </a:spcAft>
              <a:buFont typeface="Arial"/>
              <a:buChar char="•"/>
            </a:pPr>
            <a:r>
              <a:rPr sz="1800" b="0">
                <a:solidFill>
                  <a:srgbClr val="2B3245"/>
                </a:solidFill>
                <a:latin typeface="Microsoft YaHei"/>
                <a:ea typeface="Microsoft YaHei"/>
              </a:rPr>
              <a:t>最坏 3ⁿ：每个顶点 3 个选择，搜索树指数增长（实测 ≈ 1.43ⁿ）</a:t>
            </a:r>
          </a:p>
          <a:p>
            <a:pPr algn="l" marL="256032" indent="-256032">
              <a:spcAft>
                <a:spcPts val="1200"/>
              </a:spcAft>
              <a:buFont typeface="Arial"/>
              <a:buChar char="•"/>
            </a:pPr>
            <a:r>
              <a:rPr sz="1800" b="0">
                <a:solidFill>
                  <a:srgbClr val="2B3245"/>
                </a:solidFill>
                <a:latin typeface="Microsoft YaHei"/>
                <a:ea typeface="Microsoft YaHei"/>
              </a:rPr>
              <a:t>固定顺序看不到后面的约束：冲突发现得晚，一次失败要退很远</a:t>
            </a:r>
          </a:p>
          <a:p>
            <a:pPr algn="l" marL="256032" indent="-256032">
              <a:spcAft>
                <a:spcPts val="1200"/>
              </a:spcAft>
              <a:buFont typeface="Arial"/>
              <a:buChar char="•"/>
            </a:pPr>
            <a:r>
              <a:rPr sz="1800" b="0">
                <a:solidFill>
                  <a:srgbClr val="2B3245"/>
                </a:solidFill>
                <a:latin typeface="Microsoft YaHei"/>
                <a:ea typeface="Microsoft YaHei"/>
              </a:rPr>
              <a:t>无解必须覆盖所有分支（K4：16 节点；Grötzsch：472 节点）</a:t>
            </a:r>
          </a:p>
          <a:p>
            <a:pPr algn="l" marL="256032" indent="-256032">
              <a:spcAft>
                <a:spcPts val="600"/>
              </a:spcAft>
              <a:buFont typeface="Arial"/>
              <a:buChar char="•"/>
            </a:pPr>
            <a:r>
              <a:rPr sz="1800" b="0">
                <a:solidFill>
                  <a:srgbClr val="2B3245"/>
                </a:solidFill>
                <a:latin typeface="Microsoft YaHei"/>
                <a:ea typeface="Microsoft YaHei"/>
              </a:rPr>
              <a:t>难度取决于实例结构：链/偶环几乎不回溯，相变区才爆炸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645920"/>
            <a:ext cx="5532120" cy="4617720"/>
          </a:xfrm>
          <a:prstGeom prst="roundRect">
            <a:avLst>
              <a:gd name="adj" fmla="val 990"/>
            </a:avLst>
          </a:prstGeom>
          <a:solidFill>
            <a:srgbClr val="FFFFFF"/>
          </a:solidFill>
          <a:ln w="15875">
            <a:solidFill>
              <a:srgbClr val="D5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600" b="0">
                <a:solidFill>
                  <a:srgbClr val="2B3245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45920"/>
            <a:ext cx="5532120" cy="640080"/>
          </a:xfrm>
          <a:prstGeom prst="roundRect">
            <a:avLst>
              <a:gd name="adj" fmla="val 17142"/>
            </a:avLst>
          </a:prstGeom>
          <a:solidFill>
            <a:srgbClr val="2E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900" b="1">
                <a:solidFill>
                  <a:srgbClr val="FFFFFF"/>
                </a:solidFill>
                <a:latin typeface="Microsoft YaHei"/>
                <a:ea typeface="Microsoft YaHei"/>
              </a:rPr>
              <a:t>启发式能买到什么（下一步 Advance）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423160"/>
            <a:ext cx="5303520" cy="3840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56032" indent="-256032">
              <a:spcAft>
                <a:spcPts val="1200"/>
              </a:spcAft>
              <a:buFont typeface="Arial"/>
              <a:buChar char="•"/>
            </a:pPr>
            <a:r>
              <a:rPr sz="1800" b="0">
                <a:solidFill>
                  <a:srgbClr val="2B3245"/>
                </a:solidFill>
                <a:latin typeface="Microsoft YaHei"/>
                <a:ea typeface="Microsoft YaHei"/>
              </a:rPr>
              <a:t>MRV：改变选择顺序，先安排最容易卡死的顶点</a:t>
            </a:r>
          </a:p>
          <a:p>
            <a:pPr algn="l" marL="256032" indent="-256032">
              <a:spcAft>
                <a:spcPts val="1200"/>
              </a:spcAft>
              <a:buFont typeface="Arial"/>
              <a:buChar char="•"/>
            </a:pPr>
            <a:r>
              <a:rPr sz="1800" b="0">
                <a:solidFill>
                  <a:srgbClr val="2B3245"/>
                </a:solidFill>
                <a:latin typeface="Microsoft YaHei"/>
                <a:ea typeface="Microsoft YaHei"/>
              </a:rPr>
              <a:t>前向检查：染色后立刻收缩邻居的可用颜色，提前发现死路</a:t>
            </a:r>
          </a:p>
          <a:p>
            <a:pPr algn="l" marL="256032" indent="-256032">
              <a:spcAft>
                <a:spcPts val="1200"/>
              </a:spcAft>
              <a:buFont typeface="Arial"/>
              <a:buChar char="•"/>
            </a:pPr>
            <a:r>
              <a:rPr sz="1800" b="0">
                <a:solidFill>
                  <a:srgbClr val="2B3245"/>
                </a:solidFill>
                <a:latin typeface="Microsoft YaHei"/>
                <a:ea typeface="Microsoft YaHei"/>
              </a:rPr>
              <a:t>保留全部合法分支 → 仍然精确、完备，答案不变</a:t>
            </a:r>
          </a:p>
          <a:p>
            <a:pPr algn="l" marL="256032" indent="-256032">
              <a:spcAft>
                <a:spcPts val="1200"/>
              </a:spcAft>
              <a:buFont typeface="Arial"/>
              <a:buChar char="•"/>
            </a:pPr>
            <a:r>
              <a:rPr sz="1800" b="0">
                <a:solidFill>
                  <a:srgbClr val="2B3245"/>
                </a:solidFill>
                <a:latin typeface="Microsoft YaHei"/>
                <a:ea typeface="Microsoft YaHei"/>
              </a:rPr>
              <a:t>减少的是搜索规模，并不改变最坏情形 NP 完全的结论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Microsoft YaHei"/>
                <a:ea typeface="Microsoft YaHei"/>
              </a:rPr>
              <a:t>（本次 Basic 未实现 MRV / 前向检查）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A5BD"/>
                </a:solidFill>
                <a:latin typeface="Microsoft YaHei"/>
                <a:ea typeface="Microsoft YaHei"/>
              </a:rPr>
              <a:t>图三染色 · Basic 展示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73952"/>
            <a:ext cx="10058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AA5BD"/>
                </a:solidFill>
                <a:latin typeface="Microsoft YaHei"/>
                <a:ea typeface="Microsoft YaHei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84048"/>
            <a:ext cx="128016" cy="566928"/>
          </a:xfrm>
          <a:prstGeom prst="rect">
            <a:avLst/>
          </a:prstGeom>
          <a:solidFill>
            <a:srgbClr val="2E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92608"/>
            <a:ext cx="1133856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2A44"/>
                </a:solidFill>
                <a:latin typeface="Microsoft YaHei"/>
                <a:ea typeface="Microsoft YaHei"/>
              </a:rPr>
              <a:t>小结与问答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78408"/>
            <a:ext cx="1124712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B7280"/>
                </a:solidFill>
                <a:latin typeface="Microsoft YaHei"/>
                <a:ea typeface="Microsoft YaHei"/>
              </a:rPr>
              <a:t>Q1–Q3 一句话回顾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45920"/>
          <a:ext cx="11064240" cy="263347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291840"/>
                <a:gridCol w="7772400"/>
              </a:tblGrid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问题</a:t>
                      </a:r>
                    </a:p>
                  </a:txBody>
                  <a:tcPr anchor="ctr" marL="54864" marR="54864" marT="18288" marB="18288">
                    <a:lnL w="9525">
                      <a:solidFill>
                        <a:srgbClr val="D5DBE8"/>
                      </a:solidFill>
                    </a:lnL>
                    <a:lnR w="9525">
                      <a:solidFill>
                        <a:srgbClr val="D5DBE8"/>
                      </a:solidFill>
                    </a:lnR>
                    <a:lnT w="9525">
                      <a:solidFill>
                        <a:srgbClr val="D5DBE8"/>
                      </a:solidFill>
                    </a:lnT>
                    <a:lnB w="9525">
                      <a:solidFill>
                        <a:srgbClr val="D5DBE8"/>
                      </a:solidFill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一句话回答</a:t>
                      </a:r>
                    </a:p>
                  </a:txBody>
                  <a:tcPr anchor="ctr" marL="54864" marR="54864" marT="18288" marB="18288">
                    <a:lnL w="9525">
                      <a:solidFill>
                        <a:srgbClr val="D5DBE8"/>
                      </a:solidFill>
                    </a:lnL>
                    <a:lnR w="9525">
                      <a:solidFill>
                        <a:srgbClr val="D5DBE8"/>
                      </a:solidFill>
                    </a:lnR>
                    <a:lnT w="9525">
                      <a:solidFill>
                        <a:srgbClr val="D5DBE8"/>
                      </a:solidFill>
                    </a:lnT>
                    <a:lnB w="9525">
                      <a:solidFill>
                        <a:srgbClr val="D5DBE8"/>
                      </a:solidFill>
                    </a:lnB>
                    <a:solidFill>
                      <a:srgbClr val="1F2A4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B3245"/>
                          </a:solidFill>
                          <a:latin typeface="Microsoft YaHei"/>
                          <a:ea typeface="Microsoft YaHei"/>
                        </a:rPr>
                        <a:t>Q1 怎样判断染色合法？</a:t>
                      </a:r>
                    </a:p>
                  </a:txBody>
                  <a:tcPr anchor="ctr" marL="54864" marR="54864" marT="18288" marB="18288">
                    <a:lnL w="9525">
                      <a:solidFill>
                        <a:srgbClr val="D5DBE8"/>
                      </a:solidFill>
                    </a:lnL>
                    <a:lnR w="9525">
                      <a:solidFill>
                        <a:srgbClr val="D5DBE8"/>
                      </a:solidFill>
                    </a:lnR>
                    <a:lnT w="9525">
                      <a:solidFill>
                        <a:srgbClr val="D5DBE8"/>
                      </a:solidFill>
                    </a:lnT>
                    <a:lnB w="9525">
                      <a:solidFill>
                        <a:srgbClr val="D5DB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B3245"/>
                          </a:solidFill>
                          <a:latin typeface="Microsoft YaHei"/>
                          <a:ea typeface="Microsoft YaHei"/>
                        </a:rPr>
                        <a:t>指定范围内的颜色，逐条边检查两端不同；检查 m 条边，O(n+m)</a:t>
                      </a:r>
                    </a:p>
                  </a:txBody>
                  <a:tcPr anchor="ctr" marL="54864" marR="54864" marT="18288" marB="18288">
                    <a:lnL w="9525">
                      <a:solidFill>
                        <a:srgbClr val="D5DBE8"/>
                      </a:solidFill>
                    </a:lnL>
                    <a:lnR w="9525">
                      <a:solidFill>
                        <a:srgbClr val="D5DBE8"/>
                      </a:solidFill>
                    </a:lnR>
                    <a:lnT w="9525">
                      <a:solidFill>
                        <a:srgbClr val="D5DBE8"/>
                      </a:solidFill>
                    </a:lnT>
                    <a:lnB w="9525">
                      <a:solidFill>
                        <a:srgbClr val="D5DB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B3245"/>
                          </a:solidFill>
                          <a:latin typeface="Microsoft YaHei"/>
                          <a:ea typeface="Microsoft YaHei"/>
                        </a:rPr>
                        <a:t>Q2 为什么二染色可用 BFS/DFS？</a:t>
                      </a:r>
                    </a:p>
                  </a:txBody>
                  <a:tcPr anchor="ctr" marL="54864" marR="54864" marT="18288" marB="18288">
                    <a:lnL w="9525">
                      <a:solidFill>
                        <a:srgbClr val="D5DBE8"/>
                      </a:solidFill>
                    </a:lnL>
                    <a:lnR w="9525">
                      <a:solidFill>
                        <a:srgbClr val="D5DBE8"/>
                      </a:solidFill>
                    </a:lnR>
                    <a:lnT w="9525">
                      <a:solidFill>
                        <a:srgbClr val="D5DBE8"/>
                      </a:solidFill>
                    </a:lnT>
                    <a:lnB w="9525">
                      <a:solidFill>
                        <a:srgbClr val="D5DBE8"/>
                      </a:solidFill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B3245"/>
                          </a:solidFill>
                          <a:latin typeface="Microsoft YaHei"/>
                          <a:ea typeface="Microsoft YaHei"/>
                        </a:rPr>
                        <a:t>起点定色后整个分量被唯一决定，沿边交替传播；遇同色相邻即失败，奇环必然矛盾</a:t>
                      </a:r>
                    </a:p>
                  </a:txBody>
                  <a:tcPr anchor="ctr" marL="54864" marR="54864" marT="18288" marB="18288">
                    <a:lnL w="9525">
                      <a:solidFill>
                        <a:srgbClr val="D5DBE8"/>
                      </a:solidFill>
                    </a:lnL>
                    <a:lnR w="9525">
                      <a:solidFill>
                        <a:srgbClr val="D5DBE8"/>
                      </a:solidFill>
                    </a:lnR>
                    <a:lnT w="9525">
                      <a:solidFill>
                        <a:srgbClr val="D5DBE8"/>
                      </a:solidFill>
                    </a:lnT>
                    <a:lnB w="9525">
                      <a:solidFill>
                        <a:srgbClr val="D5DBE8"/>
                      </a:solidFill>
                    </a:lnB>
                    <a:solidFill>
                      <a:srgbClr val="F4F6F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B3245"/>
                          </a:solidFill>
                          <a:latin typeface="Microsoft YaHei"/>
                          <a:ea typeface="Microsoft YaHei"/>
                        </a:rPr>
                        <a:t>Q3 回溯搜索什么，何时退回？</a:t>
                      </a:r>
                    </a:p>
                  </a:txBody>
                  <a:tcPr anchor="ctr" marL="54864" marR="54864" marT="18288" marB="18288">
                    <a:lnL w="9525">
                      <a:solidFill>
                        <a:srgbClr val="D5DBE8"/>
                      </a:solidFill>
                    </a:lnL>
                    <a:lnR w="9525">
                      <a:solidFill>
                        <a:srgbClr val="D5DBE8"/>
                      </a:solidFill>
                    </a:lnR>
                    <a:lnT w="9525">
                      <a:solidFill>
                        <a:srgbClr val="D5DBE8"/>
                      </a:solidFill>
                    </a:lnT>
                    <a:lnB w="9525">
                      <a:solidFill>
                        <a:srgbClr val="D5DB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B3245"/>
                          </a:solidFill>
                          <a:latin typeface="Microsoft YaHei"/>
                          <a:ea typeface="Microsoft YaHei"/>
                        </a:rPr>
                        <a:t>搜索部分染色方案；与已染色邻居冲突则跳过，三色都不行就退回并恢复 coloring[v]</a:t>
                      </a:r>
                    </a:p>
                  </a:txBody>
                  <a:tcPr anchor="ctr" marL="54864" marR="54864" marT="18288" marB="18288">
                    <a:lnL w="9525">
                      <a:solidFill>
                        <a:srgbClr val="D5DBE8"/>
                      </a:solidFill>
                    </a:lnL>
                    <a:lnR w="9525">
                      <a:solidFill>
                        <a:srgbClr val="D5DBE8"/>
                      </a:solidFill>
                    </a:lnR>
                    <a:lnT w="9525">
                      <a:solidFill>
                        <a:srgbClr val="D5DBE8"/>
                      </a:solidFill>
                    </a:lnT>
                    <a:lnB w="9525">
                      <a:solidFill>
                        <a:srgbClr val="D5DBE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480560"/>
            <a:ext cx="5852160" cy="2011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F2A44"/>
                </a:solidFill>
                <a:latin typeface="Microsoft YaHei"/>
                <a:ea typeface="Microsoft YaHei"/>
              </a:rPr>
              <a:t>三个要点</a:t>
            </a:r>
          </a:p>
          <a:p>
            <a:pPr algn="l" marL="256032" indent="-256032">
              <a:spcAft>
                <a:spcPts val="600"/>
              </a:spcAft>
              <a:buFont typeface="Arial"/>
              <a:buChar char="•"/>
            </a:pPr>
            <a:r>
              <a:rPr sz="1600" b="0">
                <a:solidFill>
                  <a:srgbClr val="2B3245"/>
                </a:solidFill>
                <a:latin typeface="Microsoft YaHei"/>
                <a:ea typeface="Microsoft YaHei"/>
              </a:rPr>
              <a:t>有解易验证，无解要穷尽</a:t>
            </a:r>
          </a:p>
          <a:p>
            <a:pPr algn="l" marL="256032" indent="-256032">
              <a:spcAft>
                <a:spcPts val="600"/>
              </a:spcAft>
              <a:buFont typeface="Arial"/>
              <a:buChar char="•"/>
            </a:pPr>
            <a:r>
              <a:rPr sz="1600" b="0">
                <a:solidFill>
                  <a:srgbClr val="2B3245"/>
                </a:solidFill>
                <a:latin typeface="Microsoft YaHei"/>
                <a:ea typeface="Microsoft YaHei"/>
              </a:rPr>
              <a:t>NP 完全 ≠ 每个实例都难；难度看结构</a:t>
            </a:r>
          </a:p>
          <a:p>
            <a:pPr algn="l" marL="256032" indent="-256032">
              <a:spcAft>
                <a:spcPts val="600"/>
              </a:spcAft>
              <a:buFont typeface="Arial"/>
              <a:buChar char="•"/>
            </a:pPr>
            <a:r>
              <a:rPr sz="1600" b="0">
                <a:solidFill>
                  <a:srgbClr val="2B3245"/>
                </a:solidFill>
                <a:latin typeface="Microsoft YaHei"/>
                <a:ea typeface="Microsoft YaHei"/>
              </a:rPr>
              <a:t>冲突检查替我们免费剪掉了绝大部分 3ⁿ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4480560"/>
            <a:ext cx="5120640" cy="2011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F2A44"/>
                </a:solidFill>
                <a:latin typeface="Microsoft YaHei"/>
                <a:ea typeface="Microsoft YaHei"/>
              </a:rPr>
              <a:t>参考资料</a:t>
            </a:r>
          </a:p>
          <a:p>
            <a:pPr algn="l" marL="256032" indent="-256032">
              <a:spcAft>
                <a:spcPts val="600"/>
              </a:spcAft>
              <a:buFont typeface="Arial"/>
              <a:buChar char="•"/>
            </a:pPr>
            <a:r>
              <a:rPr sz="1300" b="0">
                <a:solidFill>
                  <a:srgbClr val="2B3245"/>
                </a:solidFill>
                <a:latin typeface="Microsoft YaHei"/>
                <a:ea typeface="Microsoft YaHei"/>
              </a:rPr>
              <a:t>Russell &amp; Norvig，《人工智能：一种现代方法》第 6 章（约束满足问题）</a:t>
            </a:r>
          </a:p>
          <a:p>
            <a:pPr algn="l" marL="256032" indent="-256032">
              <a:spcAft>
                <a:spcPts val="600"/>
              </a:spcAft>
              <a:buFont typeface="Arial"/>
              <a:buChar char="•"/>
            </a:pPr>
            <a:r>
              <a:rPr sz="1300" b="0">
                <a:solidFill>
                  <a:srgbClr val="2B3245"/>
                </a:solidFill>
                <a:latin typeface="Microsoft YaHei"/>
                <a:ea typeface="Microsoft YaHei"/>
              </a:rPr>
              <a:t>Karp, Reducibility Among Combinatorial Problems, 1972</a:t>
            </a:r>
          </a:p>
          <a:p>
            <a:pPr algn="l" marL="256032" indent="-256032">
              <a:spcAft>
                <a:spcPts val="600"/>
              </a:spcAft>
              <a:buFont typeface="Arial"/>
              <a:buChar char="•"/>
            </a:pPr>
            <a:r>
              <a:rPr sz="1300" b="0">
                <a:solidFill>
                  <a:srgbClr val="2B3245"/>
                </a:solidFill>
                <a:latin typeface="Microsoft YaHei"/>
                <a:ea typeface="Microsoft YaHei"/>
              </a:rPr>
              <a:t>Garey, Johnson &amp; Stockmeyer, 1976（平面图三染色 NP 完全）</a:t>
            </a:r>
          </a:p>
          <a:p>
            <a:pPr algn="l" marL="256032" indent="-256032">
              <a:spcAft>
                <a:spcPts val="600"/>
              </a:spcAft>
              <a:buFont typeface="Arial"/>
              <a:buChar char="•"/>
            </a:pPr>
            <a:r>
              <a:rPr sz="1300" b="0">
                <a:solidFill>
                  <a:srgbClr val="2B3245"/>
                </a:solidFill>
                <a:latin typeface="Microsoft YaHei"/>
                <a:ea typeface="Microsoft YaHei"/>
              </a:rPr>
              <a:t>Cheeseman, Kanefsky &amp; Taylor, Where the Really Hard Problems Are, IJCAI 1991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A5BD"/>
                </a:solidFill>
                <a:latin typeface="Microsoft YaHei"/>
                <a:ea typeface="Microsoft YaHei"/>
              </a:rPr>
              <a:t>图三染色 · Basic 展示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73952"/>
            <a:ext cx="10058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AA5BD"/>
                </a:solidFill>
                <a:latin typeface="Microsoft YaHei"/>
                <a:ea typeface="Microsoft YaHei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